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47ef94f6-b7d8-8813-8b01-f356344a1fa9}">
          <p14:sldIdLst>
            <p14:sldId id="256"/>
          </p14:sldIdLst>
        </p14:section>
        <p14:section name="탭 구성" id="{93fb0d80-616a-9edb-4b28-f2334a80b488}">
          <p14:sldIdLst>
            <p14:sldId id="257"/>
          </p14:sldIdLst>
        </p14:section>
        <p14:section name="시연 흐름" id="{4705d7b1-83a4-8dd1-3130-d4d0ddd22912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상세 탭" id="{44532b12-fc34-e617-e3bf-b91a6ee9c621}">
          <p14:sldIdLst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먼저 데이터 업로드입니다. 엑셀 파일을 끌어다 놓으면 파일 종류를 알아서 인식하고, 미리보기로 확인한 뒤 적재합니다. 적재되는 순간 모든 KPI와 화면이 자동으로 갱신됩니다.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다음은 Forecast &amp; Planning입니다. 시장별로 수요예측과 판매계획을 비교하고, 어느 시장에서 계획과 실적이 벌어지는지 한눈에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Sales 탭에서는 판매주문과 SK LSI 판매 실적, 그리고 OTIF, 정시·정량 납품을 봅니다. 어떤 제품이나 고객에서 납기나 수량이 어긋났는지 클릭하면 바로 상세로 내려갑니다.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Inventory에서는 완제품 재고 일수를 단계별로 보고, 유효기한(Shelf-life) Aging도 같이 보여줘서 곧 만료되는 재고를 미리 잡아낼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다음은 Production입니다. PR에서 PO, 입고까지 이어지는 정합성과 CMO 일정 달성률을 보고, 어느 CMO의 어느 배치가 지연됐는지 추적합니다.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마지막은 CEO Cockpit입니다. 4대 핵심 KPI가 신호등으로 떠 있어서 한눈에 들어오고, 주의나 미달 항목을 클릭하면 상세 탭으로 바로 내려가 원인을 확인할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10312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611880"/>
            <a:ext cx="54864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REEN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92608"/>
            <a:ext cx="877824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22960"/>
            <a:ext cx="100584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4" name="Text 0"/>
          <p:cNvSpPr/>
          <p:nvPr/>
        </p:nvSpPr>
        <p:spPr>
          <a:xfrm>
            <a:off x="457200" y="64922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Cenobamate GSM Dashboard  ·  Global CPM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9224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9224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640080" y="1463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SK BIOPHARMACEUTICALS  ·  GLOBAL CPM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210312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GSM 대시보드</a:t>
            </a:r>
            <a:endParaRPr lang="en-US" sz="3600" dirty="0"/>
          </a:p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화면 구성</a:t>
            </a:r>
            <a:endParaRPr lang="en-US" sz="36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640080" y="361188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3"/>
                </a:solidFill>
              </a:rPr>
              <a:t>Cenobamate Global Supply &amp; Manufacturing KPI Dashboard</a:t>
            </a:r>
            <a:endParaRPr lang="en-US" sz="1600" dirty="0"/>
          </a:p>
        </p:txBody>
      </p:sp>
      <p:sp>
        <p:nvSpPr>
          <p:cNvPr id="5" name="Presenter"/>
          <p:cNvSpPr txBox="1"/>
          <p:nvPr/>
        </p:nvSpPr>
        <p:spPr>
          <a:xfrm>
            <a:off x="640080" y="57607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Global CPM팀 조수호</a:t>
            </a:r>
            <a:endParaRPr lang="en-US" sz="1400" dirty="0"/>
          </a:p>
        </p:txBody>
      </p:sp>
      <p:sp>
        <p:nvSpPr>
          <p:cNvPr id="6" name="Hero frame"/>
          <p:cNvSpPr/>
          <p:nvPr/>
        </p:nvSpPr>
        <p:spPr>
          <a:xfrm>
            <a:off x="6437376" y="1933956"/>
            <a:ext cx="5230368" cy="2990088"/>
          </a:xfrm>
          <a:prstGeom prst="rect">
            <a:avLst/>
          </a:prstGeom>
          <a:solidFill>
            <a:schemeClr val="accent3"/>
          </a:solidFill>
          <a:ln/>
          <a:effectLst>
            <a:outerShdw sx="100000" sy="100000" kx="0" ky="0" algn="bl" rotWithShape="0" blurRad="177800" dist="76200" dir="5400000">
              <a:srgbClr val="000000">
                <a:alpha val="35000"/>
              </a:srgbClr>
            </a:outerShdw>
          </a:effectLst>
        </p:spPr>
      </p:sp>
      <p:pic>
        <p:nvPicPr>
          <p:cNvPr id="7" name="CEO Cockpit screenshot" descr="CEO Cockpit 화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1988820"/>
            <a:ext cx="512064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92608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대시보드 탭 구성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229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13개 탭 · 시연은 데이터 업로드에서 CEO Cockpit까지 여섯 단계로 진행합니다</a:t>
            </a:r>
            <a:endParaRPr lang="en-US" sz="1400" dirty="0"/>
          </a:p>
        </p:txBody>
      </p:sp>
      <p:sp>
        <p:nvSpPr>
          <p:cNvPr id="4" name="Demo label"/>
          <p:cNvSpPr txBox="1"/>
          <p:nvPr/>
        </p:nvSpPr>
        <p:spPr>
          <a:xfrm>
            <a:off x="457200" y="15087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시연 흐름</a:t>
            </a:r>
            <a:endParaRPr lang="en-US" sz="1500" dirty="0"/>
          </a:p>
        </p:txBody>
      </p:sp>
      <p:sp>
        <p:nvSpPr>
          <p:cNvPr id="5" name="Demo card 1"/>
          <p:cNvSpPr/>
          <p:nvPr/>
        </p:nvSpPr>
        <p:spPr>
          <a:xfrm>
            <a:off x="457200" y="1965960"/>
            <a:ext cx="1755648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6" name="Demo no 1"/>
          <p:cNvSpPr txBox="1"/>
          <p:nvPr/>
        </p:nvSpPr>
        <p:spPr>
          <a:xfrm>
            <a:off x="457200" y="2130552"/>
            <a:ext cx="17556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①</a:t>
            </a:r>
            <a:endParaRPr lang="en-US" sz="2200" dirty="0"/>
          </a:p>
        </p:txBody>
      </p:sp>
      <p:sp>
        <p:nvSpPr>
          <p:cNvPr id="7" name="Demo name 1"/>
          <p:cNvSpPr txBox="1"/>
          <p:nvPr/>
        </p:nvSpPr>
        <p:spPr>
          <a:xfrm>
            <a:off x="548640" y="2624328"/>
            <a:ext cx="15727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데이터 업로드</a:t>
            </a:r>
            <a:endParaRPr lang="en-US" sz="1300" dirty="0"/>
          </a:p>
        </p:txBody>
      </p:sp>
      <p:sp>
        <p:nvSpPr>
          <p:cNvPr id="8" name="Demo arrow 1"/>
          <p:cNvSpPr txBox="1"/>
          <p:nvPr/>
        </p:nvSpPr>
        <p:spPr>
          <a:xfrm>
            <a:off x="2194560" y="242316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›</a:t>
            </a:r>
            <a:endParaRPr lang="en-US" sz="1800" dirty="0"/>
          </a:p>
        </p:txBody>
      </p:sp>
      <p:sp>
        <p:nvSpPr>
          <p:cNvPr id="9" name="Demo card 2"/>
          <p:cNvSpPr/>
          <p:nvPr/>
        </p:nvSpPr>
        <p:spPr>
          <a:xfrm>
            <a:off x="2359152" y="1965960"/>
            <a:ext cx="1755648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10" name="Demo no 2"/>
          <p:cNvSpPr txBox="1"/>
          <p:nvPr/>
        </p:nvSpPr>
        <p:spPr>
          <a:xfrm>
            <a:off x="2359152" y="2130552"/>
            <a:ext cx="17556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②</a:t>
            </a:r>
            <a:endParaRPr lang="en-US" sz="2200" dirty="0"/>
          </a:p>
        </p:txBody>
      </p:sp>
      <p:sp>
        <p:nvSpPr>
          <p:cNvPr id="11" name="Demo name 2"/>
          <p:cNvSpPr txBox="1"/>
          <p:nvPr/>
        </p:nvSpPr>
        <p:spPr>
          <a:xfrm>
            <a:off x="2450592" y="2624328"/>
            <a:ext cx="15727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Forecast &amp; Planning</a:t>
            </a:r>
            <a:endParaRPr lang="en-US" sz="1300" dirty="0"/>
          </a:p>
        </p:txBody>
      </p:sp>
      <p:sp>
        <p:nvSpPr>
          <p:cNvPr id="12" name="Demo arrow 2"/>
          <p:cNvSpPr txBox="1"/>
          <p:nvPr/>
        </p:nvSpPr>
        <p:spPr>
          <a:xfrm>
            <a:off x="4096512" y="242316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›</a:t>
            </a:r>
            <a:endParaRPr lang="en-US" sz="1800" dirty="0"/>
          </a:p>
        </p:txBody>
      </p:sp>
      <p:sp>
        <p:nvSpPr>
          <p:cNvPr id="13" name="Demo card 3"/>
          <p:cNvSpPr/>
          <p:nvPr/>
        </p:nvSpPr>
        <p:spPr>
          <a:xfrm>
            <a:off x="4261104" y="1965960"/>
            <a:ext cx="1755648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14" name="Demo no 3"/>
          <p:cNvSpPr txBox="1"/>
          <p:nvPr/>
        </p:nvSpPr>
        <p:spPr>
          <a:xfrm>
            <a:off x="4261104" y="2130552"/>
            <a:ext cx="17556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③</a:t>
            </a:r>
            <a:endParaRPr lang="en-US" sz="2200" dirty="0"/>
          </a:p>
        </p:txBody>
      </p:sp>
      <p:sp>
        <p:nvSpPr>
          <p:cNvPr id="15" name="Demo name 3"/>
          <p:cNvSpPr txBox="1"/>
          <p:nvPr/>
        </p:nvSpPr>
        <p:spPr>
          <a:xfrm>
            <a:off x="4352544" y="2624328"/>
            <a:ext cx="15727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Sales</a:t>
            </a:r>
            <a:endParaRPr lang="en-US" sz="1300" dirty="0"/>
          </a:p>
        </p:txBody>
      </p:sp>
      <p:sp>
        <p:nvSpPr>
          <p:cNvPr id="16" name="Demo arrow 3"/>
          <p:cNvSpPr txBox="1"/>
          <p:nvPr/>
        </p:nvSpPr>
        <p:spPr>
          <a:xfrm>
            <a:off x="5998464" y="242316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›</a:t>
            </a:r>
            <a:endParaRPr lang="en-US" sz="1800" dirty="0"/>
          </a:p>
        </p:txBody>
      </p:sp>
      <p:sp>
        <p:nvSpPr>
          <p:cNvPr id="17" name="Demo card 4"/>
          <p:cNvSpPr/>
          <p:nvPr/>
        </p:nvSpPr>
        <p:spPr>
          <a:xfrm>
            <a:off x="6163056" y="1965960"/>
            <a:ext cx="1755648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18" name="Demo no 4"/>
          <p:cNvSpPr txBox="1"/>
          <p:nvPr/>
        </p:nvSpPr>
        <p:spPr>
          <a:xfrm>
            <a:off x="6163056" y="2130552"/>
            <a:ext cx="17556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④</a:t>
            </a:r>
            <a:endParaRPr lang="en-US" sz="2200" dirty="0"/>
          </a:p>
        </p:txBody>
      </p:sp>
      <p:sp>
        <p:nvSpPr>
          <p:cNvPr id="19" name="Demo name 4"/>
          <p:cNvSpPr txBox="1"/>
          <p:nvPr/>
        </p:nvSpPr>
        <p:spPr>
          <a:xfrm>
            <a:off x="6254496" y="2624328"/>
            <a:ext cx="15727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Inventory</a:t>
            </a:r>
            <a:endParaRPr lang="en-US" sz="1300" dirty="0"/>
          </a:p>
        </p:txBody>
      </p:sp>
      <p:sp>
        <p:nvSpPr>
          <p:cNvPr id="20" name="Demo arrow 4"/>
          <p:cNvSpPr txBox="1"/>
          <p:nvPr/>
        </p:nvSpPr>
        <p:spPr>
          <a:xfrm>
            <a:off x="7900416" y="242316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›</a:t>
            </a:r>
            <a:endParaRPr lang="en-US" sz="1800" dirty="0"/>
          </a:p>
        </p:txBody>
      </p:sp>
      <p:sp>
        <p:nvSpPr>
          <p:cNvPr id="21" name="Demo card 5"/>
          <p:cNvSpPr/>
          <p:nvPr/>
        </p:nvSpPr>
        <p:spPr>
          <a:xfrm>
            <a:off x="8065008" y="1965960"/>
            <a:ext cx="1755648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22" name="Demo no 5"/>
          <p:cNvSpPr txBox="1"/>
          <p:nvPr/>
        </p:nvSpPr>
        <p:spPr>
          <a:xfrm>
            <a:off x="8065008" y="2130552"/>
            <a:ext cx="17556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⑤</a:t>
            </a:r>
            <a:endParaRPr lang="en-US" sz="2200" dirty="0"/>
          </a:p>
        </p:txBody>
      </p:sp>
      <p:sp>
        <p:nvSpPr>
          <p:cNvPr id="23" name="Demo name 5"/>
          <p:cNvSpPr txBox="1"/>
          <p:nvPr/>
        </p:nvSpPr>
        <p:spPr>
          <a:xfrm>
            <a:off x="8156448" y="2624328"/>
            <a:ext cx="15727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Production</a:t>
            </a:r>
            <a:endParaRPr lang="en-US" sz="1300" dirty="0"/>
          </a:p>
        </p:txBody>
      </p:sp>
      <p:sp>
        <p:nvSpPr>
          <p:cNvPr id="24" name="Demo arrow 5"/>
          <p:cNvSpPr txBox="1"/>
          <p:nvPr/>
        </p:nvSpPr>
        <p:spPr>
          <a:xfrm>
            <a:off x="9802368" y="242316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›</a:t>
            </a:r>
            <a:endParaRPr lang="en-US" sz="1800" dirty="0"/>
          </a:p>
        </p:txBody>
      </p:sp>
      <p:sp>
        <p:nvSpPr>
          <p:cNvPr id="25" name="Demo card 6"/>
          <p:cNvSpPr/>
          <p:nvPr/>
        </p:nvSpPr>
        <p:spPr>
          <a:xfrm>
            <a:off x="9966960" y="1965960"/>
            <a:ext cx="1755648" cy="1371600"/>
          </a:xfrm>
          <a:prstGeom prst="roundRect">
            <a:avLst>
              <a:gd name="adj" fmla="val 5333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26" name="Demo no 6"/>
          <p:cNvSpPr txBox="1"/>
          <p:nvPr/>
        </p:nvSpPr>
        <p:spPr>
          <a:xfrm>
            <a:off x="9966960" y="2130552"/>
            <a:ext cx="17556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⑥</a:t>
            </a:r>
            <a:endParaRPr lang="en-US" sz="2200" dirty="0"/>
          </a:p>
        </p:txBody>
      </p:sp>
      <p:sp>
        <p:nvSpPr>
          <p:cNvPr id="27" name="Demo name 6"/>
          <p:cNvSpPr txBox="1"/>
          <p:nvPr/>
        </p:nvSpPr>
        <p:spPr>
          <a:xfrm>
            <a:off x="10058400" y="2624328"/>
            <a:ext cx="15727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CEO Cockpit</a:t>
            </a:r>
            <a:endParaRPr lang="en-US" sz="1300" dirty="0"/>
          </a:p>
        </p:txBody>
      </p:sp>
      <p:sp>
        <p:nvSpPr>
          <p:cNvPr id="28" name="More label"/>
          <p:cNvSpPr txBox="1"/>
          <p:nvPr/>
        </p:nvSpPr>
        <p:spPr>
          <a:xfrm>
            <a:off x="457200" y="37947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상세 탭</a:t>
            </a:r>
            <a:endParaRPr lang="en-US" sz="1500" dirty="0"/>
          </a:p>
        </p:txBody>
      </p:sp>
      <p:sp>
        <p:nvSpPr>
          <p:cNvPr id="29" name="More card 1"/>
          <p:cNvSpPr/>
          <p:nvPr/>
        </p:nvSpPr>
        <p:spPr>
          <a:xfrm>
            <a:off x="457200" y="4251960"/>
            <a:ext cx="1485247" cy="1737360"/>
          </a:xfrm>
          <a:prstGeom prst="roundRect">
            <a:avLst>
              <a:gd name="adj" fmla="val 4925"/>
            </a:avLst>
          </a:prstGeom>
          <a:solidFill>
            <a:schemeClr val="bg1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30" name="More name 1"/>
          <p:cNvSpPr txBox="1"/>
          <p:nvPr/>
        </p:nvSpPr>
        <p:spPr>
          <a:xfrm>
            <a:off x="530352" y="4416552"/>
            <a:ext cx="13389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Supply Chain</a:t>
            </a:r>
            <a:endParaRPr lang="en-US" sz="1200" dirty="0"/>
          </a:p>
        </p:txBody>
      </p:sp>
      <p:sp>
        <p:nvSpPr>
          <p:cNvPr id="31" name="More desc 1"/>
          <p:cNvSpPr txBox="1"/>
          <p:nvPr/>
        </p:nvSpPr>
        <p:spPr>
          <a:xfrm>
            <a:off x="548640" y="4937760"/>
            <a:ext cx="130236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원료부터 완제품, 파트너까지 공급망 구조를 봅니다</a:t>
            </a:r>
            <a:endParaRPr lang="en-US" sz="1000" dirty="0"/>
          </a:p>
        </p:txBody>
      </p:sp>
      <p:sp>
        <p:nvSpPr>
          <p:cNvPr id="32" name="More card 2"/>
          <p:cNvSpPr/>
          <p:nvPr/>
        </p:nvSpPr>
        <p:spPr>
          <a:xfrm>
            <a:off x="2088751" y="4251960"/>
            <a:ext cx="1485247" cy="1737360"/>
          </a:xfrm>
          <a:prstGeom prst="roundRect">
            <a:avLst>
              <a:gd name="adj" fmla="val 4925"/>
            </a:avLst>
          </a:prstGeom>
          <a:solidFill>
            <a:schemeClr val="bg1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33" name="More name 2"/>
          <p:cNvSpPr txBox="1"/>
          <p:nvPr/>
        </p:nvSpPr>
        <p:spPr>
          <a:xfrm>
            <a:off x="2161903" y="4416552"/>
            <a:ext cx="13389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Plan vs PO</a:t>
            </a:r>
            <a:endParaRPr lang="en-US" sz="1200" dirty="0"/>
          </a:p>
        </p:txBody>
      </p:sp>
      <p:sp>
        <p:nvSpPr>
          <p:cNvPr id="34" name="More desc 2"/>
          <p:cNvSpPr txBox="1"/>
          <p:nvPr/>
        </p:nvSpPr>
        <p:spPr>
          <a:xfrm>
            <a:off x="2180191" y="4937760"/>
            <a:ext cx="130236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판매계획 대비 CMO 발주가 충분한지 확인합니다</a:t>
            </a:r>
            <a:endParaRPr lang="en-US" sz="1000" dirty="0"/>
          </a:p>
        </p:txBody>
      </p:sp>
      <p:sp>
        <p:nvSpPr>
          <p:cNvPr id="35" name="More card 3"/>
          <p:cNvSpPr/>
          <p:nvPr/>
        </p:nvSpPr>
        <p:spPr>
          <a:xfrm>
            <a:off x="3720302" y="4251960"/>
            <a:ext cx="1485247" cy="1737360"/>
          </a:xfrm>
          <a:prstGeom prst="roundRect">
            <a:avLst>
              <a:gd name="adj" fmla="val 4925"/>
            </a:avLst>
          </a:prstGeom>
          <a:solidFill>
            <a:schemeClr val="bg1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36" name="More name 3"/>
          <p:cNvSpPr txBox="1"/>
          <p:nvPr/>
        </p:nvSpPr>
        <p:spPr>
          <a:xfrm>
            <a:off x="3793454" y="4416552"/>
            <a:ext cx="13389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Quality</a:t>
            </a:r>
            <a:endParaRPr lang="en-US" sz="1200" dirty="0"/>
          </a:p>
        </p:txBody>
      </p:sp>
      <p:sp>
        <p:nvSpPr>
          <p:cNvPr id="37" name="More desc 3"/>
          <p:cNvSpPr txBox="1"/>
          <p:nvPr/>
        </p:nvSpPr>
        <p:spPr>
          <a:xfrm>
            <a:off x="3811742" y="4937760"/>
            <a:ext cx="130236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품질 이벤트와 배치 출하 리드타임을 관리합니다</a:t>
            </a:r>
            <a:endParaRPr lang="en-US" sz="1000" dirty="0"/>
          </a:p>
        </p:txBody>
      </p:sp>
      <p:sp>
        <p:nvSpPr>
          <p:cNvPr id="38" name="More card 4"/>
          <p:cNvSpPr/>
          <p:nvPr/>
        </p:nvSpPr>
        <p:spPr>
          <a:xfrm>
            <a:off x="5351853" y="4251960"/>
            <a:ext cx="1485247" cy="1737360"/>
          </a:xfrm>
          <a:prstGeom prst="roundRect">
            <a:avLst>
              <a:gd name="adj" fmla="val 4925"/>
            </a:avLst>
          </a:prstGeom>
          <a:solidFill>
            <a:schemeClr val="bg1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39" name="More name 4"/>
          <p:cNvSpPr txBox="1"/>
          <p:nvPr/>
        </p:nvSpPr>
        <p:spPr>
          <a:xfrm>
            <a:off x="5425005" y="4416552"/>
            <a:ext cx="13389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Contract</a:t>
            </a:r>
            <a:endParaRPr lang="en-US" sz="1200" dirty="0"/>
          </a:p>
        </p:txBody>
      </p:sp>
      <p:sp>
        <p:nvSpPr>
          <p:cNvPr id="40" name="More desc 4"/>
          <p:cNvSpPr txBox="1"/>
          <p:nvPr/>
        </p:nvSpPr>
        <p:spPr>
          <a:xfrm>
            <a:off x="5443293" y="4937760"/>
            <a:ext cx="130236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계약, CMO 지출, 원가를 한 곳에서 봅니다</a:t>
            </a:r>
            <a:endParaRPr lang="en-US" sz="1000" dirty="0"/>
          </a:p>
        </p:txBody>
      </p:sp>
      <p:sp>
        <p:nvSpPr>
          <p:cNvPr id="41" name="More card 5"/>
          <p:cNvSpPr/>
          <p:nvPr/>
        </p:nvSpPr>
        <p:spPr>
          <a:xfrm>
            <a:off x="6983403" y="4251960"/>
            <a:ext cx="1485247" cy="1737360"/>
          </a:xfrm>
          <a:prstGeom prst="roundRect">
            <a:avLst>
              <a:gd name="adj" fmla="val 4925"/>
            </a:avLst>
          </a:prstGeom>
          <a:solidFill>
            <a:schemeClr val="bg1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42" name="More name 5"/>
          <p:cNvSpPr txBox="1"/>
          <p:nvPr/>
        </p:nvSpPr>
        <p:spPr>
          <a:xfrm>
            <a:off x="7056555" y="4416552"/>
            <a:ext cx="13389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Project PMO</a:t>
            </a:r>
            <a:endParaRPr lang="en-US" sz="1200" dirty="0"/>
          </a:p>
        </p:txBody>
      </p:sp>
      <p:sp>
        <p:nvSpPr>
          <p:cNvPr id="43" name="More desc 5"/>
          <p:cNvSpPr txBox="1"/>
          <p:nvPr/>
        </p:nvSpPr>
        <p:spPr>
          <a:xfrm>
            <a:off x="7074843" y="4937760"/>
            <a:ext cx="130236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공급망 관련 프로젝트의 진행 상황을 관리합니다</a:t>
            </a:r>
            <a:endParaRPr lang="en-US" sz="1000" dirty="0"/>
          </a:p>
        </p:txBody>
      </p:sp>
      <p:sp>
        <p:nvSpPr>
          <p:cNvPr id="44" name="More card 6"/>
          <p:cNvSpPr/>
          <p:nvPr/>
        </p:nvSpPr>
        <p:spPr>
          <a:xfrm>
            <a:off x="8614954" y="4251960"/>
            <a:ext cx="1485247" cy="1737360"/>
          </a:xfrm>
          <a:prstGeom prst="roundRect">
            <a:avLst>
              <a:gd name="adj" fmla="val 4925"/>
            </a:avLst>
          </a:prstGeom>
          <a:solidFill>
            <a:schemeClr val="bg1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45" name="More name 6"/>
          <p:cNvSpPr txBox="1"/>
          <p:nvPr/>
        </p:nvSpPr>
        <p:spPr>
          <a:xfrm>
            <a:off x="8688106" y="4416552"/>
            <a:ext cx="13389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KPI Targets</a:t>
            </a:r>
            <a:endParaRPr lang="en-US" sz="1200" dirty="0"/>
          </a:p>
        </p:txBody>
      </p:sp>
      <p:sp>
        <p:nvSpPr>
          <p:cNvPr id="46" name="More desc 6"/>
          <p:cNvSpPr txBox="1"/>
          <p:nvPr/>
        </p:nvSpPr>
        <p:spPr>
          <a:xfrm>
            <a:off x="8706394" y="4937760"/>
            <a:ext cx="130236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KPI 신호등 기준을 한 곳에서 설정합니다</a:t>
            </a:r>
            <a:endParaRPr lang="en-US" sz="1000" dirty="0"/>
          </a:p>
        </p:txBody>
      </p:sp>
      <p:sp>
        <p:nvSpPr>
          <p:cNvPr id="47" name="More card 7"/>
          <p:cNvSpPr/>
          <p:nvPr/>
        </p:nvSpPr>
        <p:spPr>
          <a:xfrm>
            <a:off x="10246505" y="4251960"/>
            <a:ext cx="1485247" cy="1737360"/>
          </a:xfrm>
          <a:prstGeom prst="roundRect">
            <a:avLst>
              <a:gd name="adj" fmla="val 4925"/>
            </a:avLst>
          </a:prstGeom>
          <a:solidFill>
            <a:schemeClr val="bg1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48" name="More name 7"/>
          <p:cNvSpPr txBox="1"/>
          <p:nvPr/>
        </p:nvSpPr>
        <p:spPr>
          <a:xfrm>
            <a:off x="10319657" y="4416552"/>
            <a:ext cx="13389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User Guide</a:t>
            </a:r>
            <a:endParaRPr lang="en-US" sz="1200" dirty="0"/>
          </a:p>
        </p:txBody>
      </p:sp>
      <p:sp>
        <p:nvSpPr>
          <p:cNvPr id="49" name="More desc 7"/>
          <p:cNvSpPr txBox="1"/>
          <p:nvPr/>
        </p:nvSpPr>
        <p:spPr>
          <a:xfrm>
            <a:off x="10337945" y="4937760"/>
            <a:ext cx="130236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대시보드 안에 사용 설명서를 함께 담았습니다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9224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92608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① 데이터 업로드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229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엑셀을 끌어다 놓으면 파일 종류를 알아서 인식하고, 모든 화면이 함께 갱신됩니다</a:t>
            </a:r>
            <a:endParaRPr lang="en-US" sz="1400" dirty="0"/>
          </a:p>
        </p:txBody>
      </p:sp>
      <p:sp>
        <p:nvSpPr>
          <p:cNvPr id="4" name="Section chip"/>
          <p:cNvSpPr/>
          <p:nvPr/>
        </p:nvSpPr>
        <p:spPr>
          <a:xfrm>
            <a:off x="9921240" y="384048"/>
            <a:ext cx="1828800" cy="36576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</p:sp>
      <p:sp>
        <p:nvSpPr>
          <p:cNvPr id="5" name="Section chip label"/>
          <p:cNvSpPr txBox="1"/>
          <p:nvPr/>
        </p:nvSpPr>
        <p:spPr>
          <a:xfrm>
            <a:off x="9921240" y="38404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시연 ①</a:t>
            </a:r>
            <a:endParaRPr lang="en-US" sz="1100" dirty="0"/>
          </a:p>
        </p:txBody>
      </p:sp>
      <p:sp>
        <p:nvSpPr>
          <p:cNvPr id="6" name="Screen frame"/>
          <p:cNvSpPr/>
          <p:nvPr/>
        </p:nvSpPr>
        <p:spPr>
          <a:xfrm>
            <a:off x="420624" y="1335024"/>
            <a:ext cx="6452006" cy="5056632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  <a:effectLst>
            <a:outerShdw sx="100000" sy="100000" kx="0" ky="0" algn="bl" rotWithShape="0" blurRad="101600" dist="38100" dir="5400000">
              <a:srgbClr val="15224F">
                <a:alpha val="18000"/>
              </a:srgbClr>
            </a:outerShdw>
          </a:effectLst>
        </p:spPr>
      </p:sp>
      <p:pic>
        <p:nvPicPr>
          <p:cNvPr id="7" name="Dashboard screenshot" descr="대시보드 화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6378854" cy="4983480"/>
          </a:xfrm>
          <a:prstGeom prst="rect">
            <a:avLst/>
          </a:prstGeom>
        </p:spPr>
      </p:pic>
      <p:sp>
        <p:nvSpPr>
          <p:cNvPr id="8" name="Point 1 card"/>
          <p:cNvSpPr/>
          <p:nvPr/>
        </p:nvSpPr>
        <p:spPr>
          <a:xfrm>
            <a:off x="7247534" y="1371600"/>
            <a:ext cx="4502506" cy="1551432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9" name="Point 1 badge"/>
          <p:cNvSpPr/>
          <p:nvPr/>
        </p:nvSpPr>
        <p:spPr>
          <a:xfrm>
            <a:off x="7448702" y="1609344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0" name="Point 1 number"/>
          <p:cNvSpPr txBox="1"/>
          <p:nvPr/>
        </p:nvSpPr>
        <p:spPr>
          <a:xfrm>
            <a:off x="7448702" y="16093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1" name="Point 1 title"/>
          <p:cNvSpPr txBox="1"/>
          <p:nvPr/>
        </p:nvSpPr>
        <p:spPr>
          <a:xfrm>
            <a:off x="8024774" y="1572768"/>
            <a:ext cx="35423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드래그 앤 드롭 업로드</a:t>
            </a:r>
            <a:endParaRPr lang="en-US" sz="1500" dirty="0"/>
          </a:p>
        </p:txBody>
      </p:sp>
      <p:sp>
        <p:nvSpPr>
          <p:cNvPr id="12" name="Point 1 text"/>
          <p:cNvSpPr txBox="1"/>
          <p:nvPr/>
        </p:nvSpPr>
        <p:spPr>
          <a:xfrm>
            <a:off x="8024774" y="2066544"/>
            <a:ext cx="3542386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기준정보(Master)와 운영 데이터(Operational) 영역에 엑셀을 그대로 끌어다 놓습니다.</a:t>
            </a:r>
            <a:endParaRPr lang="en-US" sz="1200" dirty="0"/>
          </a:p>
        </p:txBody>
      </p:sp>
      <p:sp>
        <p:nvSpPr>
          <p:cNvPr id="13" name="Point 2 card"/>
          <p:cNvSpPr/>
          <p:nvPr/>
        </p:nvSpPr>
        <p:spPr>
          <a:xfrm>
            <a:off x="7247534" y="3087624"/>
            <a:ext cx="4502506" cy="1551432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4" name="Point 2 badge"/>
          <p:cNvSpPr/>
          <p:nvPr/>
        </p:nvSpPr>
        <p:spPr>
          <a:xfrm>
            <a:off x="7448702" y="3325368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5" name="Point 2 number"/>
          <p:cNvSpPr txBox="1"/>
          <p:nvPr/>
        </p:nvSpPr>
        <p:spPr>
          <a:xfrm>
            <a:off x="7448702" y="33253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6" name="Point 2 title"/>
          <p:cNvSpPr txBox="1"/>
          <p:nvPr/>
        </p:nvSpPr>
        <p:spPr>
          <a:xfrm>
            <a:off x="8024774" y="3288792"/>
            <a:ext cx="35423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파일 유형 자동 인식</a:t>
            </a:r>
            <a:endParaRPr lang="en-US" sz="1500" dirty="0"/>
          </a:p>
        </p:txBody>
      </p:sp>
      <p:sp>
        <p:nvSpPr>
          <p:cNvPr id="17" name="Point 2 text"/>
          <p:cNvSpPr txBox="1"/>
          <p:nvPr/>
        </p:nvSpPr>
        <p:spPr>
          <a:xfrm>
            <a:off x="8024774" y="3782568"/>
            <a:ext cx="3542386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시트 구조를 읽어 판매·입고·재고·원가 파일을 분류하고, 미리보기로 확인한 뒤 적재합니다.</a:t>
            </a:r>
            <a:endParaRPr lang="en-US" sz="1200" dirty="0"/>
          </a:p>
        </p:txBody>
      </p:sp>
      <p:sp>
        <p:nvSpPr>
          <p:cNvPr id="18" name="Point 3 card"/>
          <p:cNvSpPr/>
          <p:nvPr/>
        </p:nvSpPr>
        <p:spPr>
          <a:xfrm>
            <a:off x="7247534" y="4803648"/>
            <a:ext cx="4502506" cy="1551432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9" name="Point 3 badge"/>
          <p:cNvSpPr/>
          <p:nvPr/>
        </p:nvSpPr>
        <p:spPr>
          <a:xfrm>
            <a:off x="7448702" y="5041392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0" name="Point 3 number"/>
          <p:cNvSpPr txBox="1"/>
          <p:nvPr/>
        </p:nvSpPr>
        <p:spPr>
          <a:xfrm>
            <a:off x="7448702" y="50413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21" name="Point 3 title"/>
          <p:cNvSpPr txBox="1"/>
          <p:nvPr/>
        </p:nvSpPr>
        <p:spPr>
          <a:xfrm>
            <a:off x="8024774" y="5004816"/>
            <a:ext cx="35423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적재 즉시 전 탭 갱신</a:t>
            </a:r>
            <a:endParaRPr lang="en-US" sz="1500" dirty="0"/>
          </a:p>
        </p:txBody>
      </p:sp>
      <p:sp>
        <p:nvSpPr>
          <p:cNvPr id="22" name="Point 3 text"/>
          <p:cNvSpPr txBox="1"/>
          <p:nvPr/>
        </p:nvSpPr>
        <p:spPr>
          <a:xfrm>
            <a:off x="8024774" y="5498592"/>
            <a:ext cx="3542386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적재가 끝나면 KPI와 모든 탭이 자동으로 다시 계산되고, 업로드 현황 카드로 최신 여부를 확인합니다.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9224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92608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② Forecast &amp; Planning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229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시장별 수요예측과 판매계획을 한 화면에서 비교합니다</a:t>
            </a:r>
            <a:endParaRPr lang="en-US" sz="1400" dirty="0"/>
          </a:p>
        </p:txBody>
      </p:sp>
      <p:sp>
        <p:nvSpPr>
          <p:cNvPr id="4" name="Section chip"/>
          <p:cNvSpPr/>
          <p:nvPr/>
        </p:nvSpPr>
        <p:spPr>
          <a:xfrm>
            <a:off x="9921240" y="384048"/>
            <a:ext cx="1828800" cy="36576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</p:sp>
      <p:sp>
        <p:nvSpPr>
          <p:cNvPr id="5" name="Section chip label"/>
          <p:cNvSpPr txBox="1"/>
          <p:nvPr/>
        </p:nvSpPr>
        <p:spPr>
          <a:xfrm>
            <a:off x="9921240" y="38404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시연 ②</a:t>
            </a:r>
            <a:endParaRPr lang="en-US" sz="1100" dirty="0"/>
          </a:p>
        </p:txBody>
      </p:sp>
      <p:sp>
        <p:nvSpPr>
          <p:cNvPr id="6" name="Screen frame"/>
          <p:cNvSpPr/>
          <p:nvPr/>
        </p:nvSpPr>
        <p:spPr>
          <a:xfrm>
            <a:off x="420624" y="1335024"/>
            <a:ext cx="6452006" cy="5056632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  <a:effectLst>
            <a:outerShdw sx="100000" sy="100000" kx="0" ky="0" algn="bl" rotWithShape="0" blurRad="101600" dist="38100" dir="5400000">
              <a:srgbClr val="15224F">
                <a:alpha val="18000"/>
              </a:srgbClr>
            </a:outerShdw>
          </a:effectLst>
        </p:spPr>
      </p:sp>
      <p:pic>
        <p:nvPicPr>
          <p:cNvPr id="7" name="Dashboard screenshot" descr="대시보드 화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6378854" cy="4983480"/>
          </a:xfrm>
          <a:prstGeom prst="rect">
            <a:avLst/>
          </a:prstGeom>
        </p:spPr>
      </p:pic>
      <p:sp>
        <p:nvSpPr>
          <p:cNvPr id="8" name="Point 1 card"/>
          <p:cNvSpPr/>
          <p:nvPr/>
        </p:nvSpPr>
        <p:spPr>
          <a:xfrm>
            <a:off x="7247534" y="1371600"/>
            <a:ext cx="4502506" cy="1551432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9" name="Point 1 badge"/>
          <p:cNvSpPr/>
          <p:nvPr/>
        </p:nvSpPr>
        <p:spPr>
          <a:xfrm>
            <a:off x="7448702" y="1609344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0" name="Point 1 number"/>
          <p:cNvSpPr txBox="1"/>
          <p:nvPr/>
        </p:nvSpPr>
        <p:spPr>
          <a:xfrm>
            <a:off x="7448702" y="16093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1" name="Point 1 title"/>
          <p:cNvSpPr txBox="1"/>
          <p:nvPr/>
        </p:nvSpPr>
        <p:spPr>
          <a:xfrm>
            <a:off x="8024774" y="1572768"/>
            <a:ext cx="35423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시장(Region) 선택</a:t>
            </a:r>
            <a:endParaRPr lang="en-US" sz="1500" dirty="0"/>
          </a:p>
        </p:txBody>
      </p:sp>
      <p:sp>
        <p:nvSpPr>
          <p:cNvPr id="12" name="Point 1 text"/>
          <p:cNvSpPr txBox="1"/>
          <p:nvPr/>
        </p:nvSpPr>
        <p:spPr>
          <a:xfrm>
            <a:off x="8024774" y="2066544"/>
            <a:ext cx="3542386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US · EU · ROW를 전환하며 시장별 계획을 봅니다.</a:t>
            </a:r>
            <a:endParaRPr lang="en-US" sz="1200" dirty="0"/>
          </a:p>
        </p:txBody>
      </p:sp>
      <p:sp>
        <p:nvSpPr>
          <p:cNvPr id="13" name="Point 2 card"/>
          <p:cNvSpPr/>
          <p:nvPr/>
        </p:nvSpPr>
        <p:spPr>
          <a:xfrm>
            <a:off x="7247534" y="3087624"/>
            <a:ext cx="4502506" cy="1551432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4" name="Point 2 badge"/>
          <p:cNvSpPr/>
          <p:nvPr/>
        </p:nvSpPr>
        <p:spPr>
          <a:xfrm>
            <a:off x="7448702" y="3325368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5" name="Point 2 number"/>
          <p:cNvSpPr txBox="1"/>
          <p:nvPr/>
        </p:nvSpPr>
        <p:spPr>
          <a:xfrm>
            <a:off x="7448702" y="33253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6" name="Point 2 title"/>
          <p:cNvSpPr txBox="1"/>
          <p:nvPr/>
        </p:nvSpPr>
        <p:spPr>
          <a:xfrm>
            <a:off x="8024774" y="3288792"/>
            <a:ext cx="35423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예측과 계획 비교</a:t>
            </a:r>
            <a:endParaRPr lang="en-US" sz="1500" dirty="0"/>
          </a:p>
        </p:txBody>
      </p:sp>
      <p:sp>
        <p:nvSpPr>
          <p:cNvPr id="17" name="Point 2 text"/>
          <p:cNvSpPr txBox="1"/>
          <p:nvPr/>
        </p:nvSpPr>
        <p:spPr>
          <a:xfrm>
            <a:off x="8024774" y="3782568"/>
            <a:ext cx="3542386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Demand Forecast와 Sales Plan 뷰를 오가며 연도별 수요 규모를 비교합니다.</a:t>
            </a:r>
            <a:endParaRPr lang="en-US" sz="1200" dirty="0"/>
          </a:p>
        </p:txBody>
      </p:sp>
      <p:sp>
        <p:nvSpPr>
          <p:cNvPr id="18" name="Point 3 card"/>
          <p:cNvSpPr/>
          <p:nvPr/>
        </p:nvSpPr>
        <p:spPr>
          <a:xfrm>
            <a:off x="7247534" y="4803648"/>
            <a:ext cx="4502506" cy="1551432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9" name="Point 3 badge"/>
          <p:cNvSpPr/>
          <p:nvPr/>
        </p:nvSpPr>
        <p:spPr>
          <a:xfrm>
            <a:off x="7448702" y="5041392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0" name="Point 3 number"/>
          <p:cNvSpPr txBox="1"/>
          <p:nvPr/>
        </p:nvSpPr>
        <p:spPr>
          <a:xfrm>
            <a:off x="7448702" y="50413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21" name="Point 3 title"/>
          <p:cNvSpPr txBox="1"/>
          <p:nvPr/>
        </p:nvSpPr>
        <p:spPr>
          <a:xfrm>
            <a:off x="8024774" y="5004816"/>
            <a:ext cx="35423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월별 추이</a:t>
            </a:r>
            <a:endParaRPr lang="en-US" sz="1500" dirty="0"/>
          </a:p>
        </p:txBody>
      </p:sp>
      <p:sp>
        <p:nvSpPr>
          <p:cNvPr id="22" name="Point 3 text"/>
          <p:cNvSpPr txBox="1"/>
          <p:nvPr/>
        </p:nvSpPr>
        <p:spPr>
          <a:xfrm>
            <a:off x="8024774" y="5498592"/>
            <a:ext cx="3542386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월별 추이 차트로 어느 시장에서 계획과 실적이 벌어지는지 확인합니다.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9224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92608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③ Sales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229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판매주문, SK LSI 판매 실적, OTIF를 한 탭에서 봅니다</a:t>
            </a:r>
            <a:endParaRPr lang="en-US" sz="1400" dirty="0"/>
          </a:p>
        </p:txBody>
      </p:sp>
      <p:sp>
        <p:nvSpPr>
          <p:cNvPr id="4" name="Section chip"/>
          <p:cNvSpPr/>
          <p:nvPr/>
        </p:nvSpPr>
        <p:spPr>
          <a:xfrm>
            <a:off x="9921240" y="384048"/>
            <a:ext cx="1828800" cy="36576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</p:sp>
      <p:sp>
        <p:nvSpPr>
          <p:cNvPr id="5" name="Section chip label"/>
          <p:cNvSpPr txBox="1"/>
          <p:nvPr/>
        </p:nvSpPr>
        <p:spPr>
          <a:xfrm>
            <a:off x="9921240" y="38404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시연 ③</a:t>
            </a:r>
            <a:endParaRPr lang="en-US" sz="1100" dirty="0"/>
          </a:p>
        </p:txBody>
      </p:sp>
      <p:sp>
        <p:nvSpPr>
          <p:cNvPr id="6" name="Screen frame"/>
          <p:cNvSpPr/>
          <p:nvPr/>
        </p:nvSpPr>
        <p:spPr>
          <a:xfrm>
            <a:off x="420624" y="1335024"/>
            <a:ext cx="6452006" cy="5056632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  <a:effectLst>
            <a:outerShdw sx="100000" sy="100000" kx="0" ky="0" algn="bl" rotWithShape="0" blurRad="101600" dist="38100" dir="5400000">
              <a:srgbClr val="15224F">
                <a:alpha val="18000"/>
              </a:srgbClr>
            </a:outerShdw>
          </a:effectLst>
        </p:spPr>
      </p:sp>
      <p:pic>
        <p:nvPicPr>
          <p:cNvPr id="7" name="Dashboard screenshot" descr="대시보드 화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6378854" cy="4983480"/>
          </a:xfrm>
          <a:prstGeom prst="rect">
            <a:avLst/>
          </a:prstGeom>
        </p:spPr>
      </p:pic>
      <p:sp>
        <p:nvSpPr>
          <p:cNvPr id="8" name="Point 1 card"/>
          <p:cNvSpPr/>
          <p:nvPr/>
        </p:nvSpPr>
        <p:spPr>
          <a:xfrm>
            <a:off x="7247534" y="1371600"/>
            <a:ext cx="4502506" cy="1551432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9" name="Point 1 badge"/>
          <p:cNvSpPr/>
          <p:nvPr/>
        </p:nvSpPr>
        <p:spPr>
          <a:xfrm>
            <a:off x="7448702" y="1609344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0" name="Point 1 number"/>
          <p:cNvSpPr txBox="1"/>
          <p:nvPr/>
        </p:nvSpPr>
        <p:spPr>
          <a:xfrm>
            <a:off x="7448702" y="16093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1" name="Point 1 title"/>
          <p:cNvSpPr txBox="1"/>
          <p:nvPr/>
        </p:nvSpPr>
        <p:spPr>
          <a:xfrm>
            <a:off x="8024774" y="1572768"/>
            <a:ext cx="35423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세 개의 섹션</a:t>
            </a:r>
            <a:endParaRPr lang="en-US" sz="1500" dirty="0"/>
          </a:p>
        </p:txBody>
      </p:sp>
      <p:sp>
        <p:nvSpPr>
          <p:cNvPr id="12" name="Point 1 text"/>
          <p:cNvSpPr txBox="1"/>
          <p:nvPr/>
        </p:nvSpPr>
        <p:spPr>
          <a:xfrm>
            <a:off x="8024774" y="2066544"/>
            <a:ext cx="3542386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Sales Order &amp; SK LSI · Sales Performance · OTIF &amp; Forecast Accuracy로 나뉩니다.</a:t>
            </a:r>
            <a:endParaRPr lang="en-US" sz="1200" dirty="0"/>
          </a:p>
        </p:txBody>
      </p:sp>
      <p:sp>
        <p:nvSpPr>
          <p:cNvPr id="13" name="Point 2 card"/>
          <p:cNvSpPr/>
          <p:nvPr/>
        </p:nvSpPr>
        <p:spPr>
          <a:xfrm>
            <a:off x="7247534" y="3087624"/>
            <a:ext cx="4502506" cy="1551432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4" name="Point 2 badge"/>
          <p:cNvSpPr/>
          <p:nvPr/>
        </p:nvSpPr>
        <p:spPr>
          <a:xfrm>
            <a:off x="7448702" y="3325368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5" name="Point 2 number"/>
          <p:cNvSpPr txBox="1"/>
          <p:nvPr/>
        </p:nvSpPr>
        <p:spPr>
          <a:xfrm>
            <a:off x="7448702" y="33253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6" name="Point 2 title"/>
          <p:cNvSpPr txBox="1"/>
          <p:nvPr/>
        </p:nvSpPr>
        <p:spPr>
          <a:xfrm>
            <a:off x="8024774" y="3288792"/>
            <a:ext cx="35423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요약 카드</a:t>
            </a:r>
            <a:endParaRPr lang="en-US" sz="1500" dirty="0"/>
          </a:p>
        </p:txBody>
      </p:sp>
      <p:sp>
        <p:nvSpPr>
          <p:cNvPr id="17" name="Point 2 text"/>
          <p:cNvSpPr txBox="1"/>
          <p:nvPr/>
        </p:nvSpPr>
        <p:spPr>
          <a:xfrm>
            <a:off x="8024774" y="3782568"/>
            <a:ext cx="3542386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총 주문·청구 금액, OTIF, 연체 금액, 파트너 수와 주문 상태별 분포를 보여줍니다.</a:t>
            </a:r>
            <a:endParaRPr lang="en-US" sz="1200" dirty="0"/>
          </a:p>
        </p:txBody>
      </p:sp>
      <p:sp>
        <p:nvSpPr>
          <p:cNvPr id="18" name="Point 3 card"/>
          <p:cNvSpPr/>
          <p:nvPr/>
        </p:nvSpPr>
        <p:spPr>
          <a:xfrm>
            <a:off x="7247534" y="4803648"/>
            <a:ext cx="4502506" cy="1551432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9" name="Point 3 badge"/>
          <p:cNvSpPr/>
          <p:nvPr/>
        </p:nvSpPr>
        <p:spPr>
          <a:xfrm>
            <a:off x="7448702" y="5041392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0" name="Point 3 number"/>
          <p:cNvSpPr txBox="1"/>
          <p:nvPr/>
        </p:nvSpPr>
        <p:spPr>
          <a:xfrm>
            <a:off x="7448702" y="50413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21" name="Point 3 title"/>
          <p:cNvSpPr txBox="1"/>
          <p:nvPr/>
        </p:nvSpPr>
        <p:spPr>
          <a:xfrm>
            <a:off x="8024774" y="5004816"/>
            <a:ext cx="35423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필터와 원천 데이터</a:t>
            </a:r>
            <a:endParaRPr lang="en-US" sz="1500" dirty="0"/>
          </a:p>
        </p:txBody>
      </p:sp>
      <p:sp>
        <p:nvSpPr>
          <p:cNvPr id="22" name="Point 3 text"/>
          <p:cNvSpPr txBox="1"/>
          <p:nvPr/>
        </p:nvSpPr>
        <p:spPr>
          <a:xfrm>
            <a:off x="8024774" y="5498592"/>
            <a:ext cx="3542386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상태·파트너 필터와 검색으로 원천 목록까지 내려가고, 행별로 KPI 포함 여부를 정합니다.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9224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92608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④ Inventory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229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완제품 재고일수와 유효기한 리스크를 함께 봅니다</a:t>
            </a:r>
            <a:endParaRPr lang="en-US" sz="1400" dirty="0"/>
          </a:p>
        </p:txBody>
      </p:sp>
      <p:sp>
        <p:nvSpPr>
          <p:cNvPr id="4" name="Section chip"/>
          <p:cNvSpPr/>
          <p:nvPr/>
        </p:nvSpPr>
        <p:spPr>
          <a:xfrm>
            <a:off x="9921240" y="384048"/>
            <a:ext cx="1828800" cy="36576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</p:sp>
      <p:sp>
        <p:nvSpPr>
          <p:cNvPr id="5" name="Section chip label"/>
          <p:cNvSpPr txBox="1"/>
          <p:nvPr/>
        </p:nvSpPr>
        <p:spPr>
          <a:xfrm>
            <a:off x="9921240" y="38404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시연 ④</a:t>
            </a:r>
            <a:endParaRPr lang="en-US" sz="1100" dirty="0"/>
          </a:p>
        </p:txBody>
      </p:sp>
      <p:sp>
        <p:nvSpPr>
          <p:cNvPr id="6" name="Screen frame"/>
          <p:cNvSpPr/>
          <p:nvPr/>
        </p:nvSpPr>
        <p:spPr>
          <a:xfrm>
            <a:off x="420624" y="1335024"/>
            <a:ext cx="6452006" cy="5056632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  <a:effectLst>
            <a:outerShdw sx="100000" sy="100000" kx="0" ky="0" algn="bl" rotWithShape="0" blurRad="101600" dist="38100" dir="5400000">
              <a:srgbClr val="15224F">
                <a:alpha val="18000"/>
              </a:srgbClr>
            </a:outerShdw>
          </a:effectLst>
        </p:spPr>
      </p:sp>
      <p:pic>
        <p:nvPicPr>
          <p:cNvPr id="7" name="Dashboard screenshot" descr="대시보드 화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6378854" cy="4983480"/>
          </a:xfrm>
          <a:prstGeom prst="rect">
            <a:avLst/>
          </a:prstGeom>
        </p:spPr>
      </p:pic>
      <p:sp>
        <p:nvSpPr>
          <p:cNvPr id="8" name="Point 1 card"/>
          <p:cNvSpPr/>
          <p:nvPr/>
        </p:nvSpPr>
        <p:spPr>
          <a:xfrm>
            <a:off x="7247534" y="1371600"/>
            <a:ext cx="4502506" cy="1551432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9" name="Point 1 badge"/>
          <p:cNvSpPr/>
          <p:nvPr/>
        </p:nvSpPr>
        <p:spPr>
          <a:xfrm>
            <a:off x="7448702" y="1609344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0" name="Point 1 number"/>
          <p:cNvSpPr txBox="1"/>
          <p:nvPr/>
        </p:nvSpPr>
        <p:spPr>
          <a:xfrm>
            <a:off x="7448702" y="16093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1" name="Point 1 title"/>
          <p:cNvSpPr txBox="1"/>
          <p:nvPr/>
        </p:nvSpPr>
        <p:spPr>
          <a:xfrm>
            <a:off x="8024774" y="1572768"/>
            <a:ext cx="35423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SAP 데이터 연동</a:t>
            </a:r>
            <a:endParaRPr lang="en-US" sz="1500" dirty="0"/>
          </a:p>
        </p:txBody>
      </p:sp>
      <p:sp>
        <p:nvSpPr>
          <p:cNvPr id="12" name="Point 1 text"/>
          <p:cNvSpPr txBox="1"/>
          <p:nvPr/>
        </p:nvSpPr>
        <p:spPr>
          <a:xfrm>
            <a:off x="8024774" y="2066544"/>
            <a:ext cx="3542386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Warehouse Stocks(MB52)와 Shelf Life List를 올리면 재고 KPI가 자동 계산됩니다.</a:t>
            </a:r>
            <a:endParaRPr lang="en-US" sz="1200" dirty="0"/>
          </a:p>
        </p:txBody>
      </p:sp>
      <p:sp>
        <p:nvSpPr>
          <p:cNvPr id="13" name="Point 2 card"/>
          <p:cNvSpPr/>
          <p:nvPr/>
        </p:nvSpPr>
        <p:spPr>
          <a:xfrm>
            <a:off x="7247534" y="3087624"/>
            <a:ext cx="4502506" cy="1551432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4" name="Point 2 badge"/>
          <p:cNvSpPr/>
          <p:nvPr/>
        </p:nvSpPr>
        <p:spPr>
          <a:xfrm>
            <a:off x="7448702" y="3325368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5" name="Point 2 number"/>
          <p:cNvSpPr txBox="1"/>
          <p:nvPr/>
        </p:nvSpPr>
        <p:spPr>
          <a:xfrm>
            <a:off x="7448702" y="33253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6" name="Point 2 title"/>
          <p:cNvSpPr txBox="1"/>
          <p:nvPr/>
        </p:nvSpPr>
        <p:spPr>
          <a:xfrm>
            <a:off x="8024774" y="3288792"/>
            <a:ext cx="35423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재고 신호등</a:t>
            </a:r>
            <a:endParaRPr lang="en-US" sz="1500" dirty="0"/>
          </a:p>
        </p:txBody>
      </p:sp>
      <p:sp>
        <p:nvSpPr>
          <p:cNvPr id="17" name="Point 2 text"/>
          <p:cNvSpPr txBox="1"/>
          <p:nvPr/>
        </p:nvSpPr>
        <p:spPr>
          <a:xfrm>
            <a:off x="8024774" y="3782568"/>
            <a:ext cx="3542386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FG 재고일수, 유효기한 리스크, 총 재고가치를 목표 대비 신호등으로 표시합니다.</a:t>
            </a:r>
            <a:endParaRPr lang="en-US" sz="1200" dirty="0"/>
          </a:p>
        </p:txBody>
      </p:sp>
      <p:sp>
        <p:nvSpPr>
          <p:cNvPr id="18" name="Point 3 card"/>
          <p:cNvSpPr/>
          <p:nvPr/>
        </p:nvSpPr>
        <p:spPr>
          <a:xfrm>
            <a:off x="7247534" y="4803648"/>
            <a:ext cx="4502506" cy="1551432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9" name="Point 3 badge"/>
          <p:cNvSpPr/>
          <p:nvPr/>
        </p:nvSpPr>
        <p:spPr>
          <a:xfrm>
            <a:off x="7448702" y="5041392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0" name="Point 3 number"/>
          <p:cNvSpPr txBox="1"/>
          <p:nvPr/>
        </p:nvSpPr>
        <p:spPr>
          <a:xfrm>
            <a:off x="7448702" y="50413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21" name="Point 3 title"/>
          <p:cNvSpPr txBox="1"/>
          <p:nvPr/>
        </p:nvSpPr>
        <p:spPr>
          <a:xfrm>
            <a:off x="8024774" y="5004816"/>
            <a:ext cx="35423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재고일수 추이와 예측</a:t>
            </a:r>
            <a:endParaRPr lang="en-US" sz="1500" dirty="0"/>
          </a:p>
        </p:txBody>
      </p:sp>
      <p:sp>
        <p:nvSpPr>
          <p:cNvPr id="22" name="Point 3 text"/>
          <p:cNvSpPr txBox="1"/>
          <p:nvPr/>
        </p:nvSpPr>
        <p:spPr>
          <a:xfrm>
            <a:off x="8024774" y="5498592"/>
            <a:ext cx="3542386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FG DOS 추이(현재 + 예측)로 재고가 목표 구간을 벗어나는 시점을 미리 봅니다.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9224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92608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⑤ Production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229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PR → PO → 입고(GR)까지의 정합성과 CMO 일정을 추적합니다</a:t>
            </a:r>
            <a:endParaRPr lang="en-US" sz="1400" dirty="0"/>
          </a:p>
        </p:txBody>
      </p:sp>
      <p:sp>
        <p:nvSpPr>
          <p:cNvPr id="4" name="Section chip"/>
          <p:cNvSpPr/>
          <p:nvPr/>
        </p:nvSpPr>
        <p:spPr>
          <a:xfrm>
            <a:off x="9921240" y="384048"/>
            <a:ext cx="1828800" cy="36576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</p:sp>
      <p:sp>
        <p:nvSpPr>
          <p:cNvPr id="5" name="Section chip label"/>
          <p:cNvSpPr txBox="1"/>
          <p:nvPr/>
        </p:nvSpPr>
        <p:spPr>
          <a:xfrm>
            <a:off x="9921240" y="38404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시연 ⑤</a:t>
            </a:r>
            <a:endParaRPr lang="en-US" sz="1100" dirty="0"/>
          </a:p>
        </p:txBody>
      </p:sp>
      <p:sp>
        <p:nvSpPr>
          <p:cNvPr id="6" name="Screen frame"/>
          <p:cNvSpPr/>
          <p:nvPr/>
        </p:nvSpPr>
        <p:spPr>
          <a:xfrm>
            <a:off x="420624" y="1335024"/>
            <a:ext cx="6452006" cy="5056632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  <a:effectLst>
            <a:outerShdw sx="100000" sy="100000" kx="0" ky="0" algn="bl" rotWithShape="0" blurRad="101600" dist="38100" dir="5400000">
              <a:srgbClr val="15224F">
                <a:alpha val="18000"/>
              </a:srgbClr>
            </a:outerShdw>
          </a:effectLst>
        </p:spPr>
      </p:sp>
      <p:pic>
        <p:nvPicPr>
          <p:cNvPr id="7" name="Dashboard screenshot" descr="대시보드 화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6378854" cy="4983480"/>
          </a:xfrm>
          <a:prstGeom prst="rect">
            <a:avLst/>
          </a:prstGeom>
        </p:spPr>
      </p:pic>
      <p:sp>
        <p:nvSpPr>
          <p:cNvPr id="8" name="Point 1 card"/>
          <p:cNvSpPr/>
          <p:nvPr/>
        </p:nvSpPr>
        <p:spPr>
          <a:xfrm>
            <a:off x="7247534" y="1371600"/>
            <a:ext cx="4502506" cy="1551432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9" name="Point 1 badge"/>
          <p:cNvSpPr/>
          <p:nvPr/>
        </p:nvSpPr>
        <p:spPr>
          <a:xfrm>
            <a:off x="7448702" y="1609344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0" name="Point 1 number"/>
          <p:cNvSpPr txBox="1"/>
          <p:nvPr/>
        </p:nvSpPr>
        <p:spPr>
          <a:xfrm>
            <a:off x="7448702" y="16093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1" name="Point 1 title"/>
          <p:cNvSpPr txBox="1"/>
          <p:nvPr/>
        </p:nvSpPr>
        <p:spPr>
          <a:xfrm>
            <a:off x="8024774" y="1572768"/>
            <a:ext cx="35423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생산 현황 요약</a:t>
            </a:r>
            <a:endParaRPr lang="en-US" sz="1500" dirty="0"/>
          </a:p>
        </p:txBody>
      </p:sp>
      <p:sp>
        <p:nvSpPr>
          <p:cNvPr id="12" name="Point 1 text"/>
          <p:cNvSpPr txBox="1"/>
          <p:nvPr/>
        </p:nvSpPr>
        <p:spPr>
          <a:xfrm>
            <a:off x="8024774" y="2066544"/>
            <a:ext cx="3542386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총 PR/PO 금액, 입고 금액, 미입고 금액과 다음 납기를 한 줄로 봅니다.</a:t>
            </a:r>
            <a:endParaRPr lang="en-US" sz="1200" dirty="0"/>
          </a:p>
        </p:txBody>
      </p:sp>
      <p:sp>
        <p:nvSpPr>
          <p:cNvPr id="13" name="Point 2 card"/>
          <p:cNvSpPr/>
          <p:nvPr/>
        </p:nvSpPr>
        <p:spPr>
          <a:xfrm>
            <a:off x="7247534" y="3087624"/>
            <a:ext cx="4502506" cy="1551432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4" name="Point 2 badge"/>
          <p:cNvSpPr/>
          <p:nvPr/>
        </p:nvSpPr>
        <p:spPr>
          <a:xfrm>
            <a:off x="7448702" y="3325368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5" name="Point 2 number"/>
          <p:cNvSpPr txBox="1"/>
          <p:nvPr/>
        </p:nvSpPr>
        <p:spPr>
          <a:xfrm>
            <a:off x="7448702" y="33253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6" name="Point 2 title"/>
          <p:cNvSpPr txBox="1"/>
          <p:nvPr/>
        </p:nvSpPr>
        <p:spPr>
          <a:xfrm>
            <a:off x="8024774" y="3288792"/>
            <a:ext cx="35423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PR/PO 진행 대사</a:t>
            </a:r>
            <a:endParaRPr lang="en-US" sz="1500" dirty="0"/>
          </a:p>
        </p:txBody>
      </p:sp>
      <p:sp>
        <p:nvSpPr>
          <p:cNvPr id="17" name="Point 2 text"/>
          <p:cNvSpPr txBox="1"/>
          <p:nvPr/>
        </p:nvSpPr>
        <p:spPr>
          <a:xfrm>
            <a:off x="8024774" y="3782568"/>
            <a:ext cx="3542386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발주와 입고를 맞춰 Complete · In Progress · Overdue로 분류합니다.</a:t>
            </a:r>
            <a:endParaRPr lang="en-US" sz="1200" dirty="0"/>
          </a:p>
        </p:txBody>
      </p:sp>
      <p:sp>
        <p:nvSpPr>
          <p:cNvPr id="18" name="Point 3 card"/>
          <p:cNvSpPr/>
          <p:nvPr/>
        </p:nvSpPr>
        <p:spPr>
          <a:xfrm>
            <a:off x="7247534" y="4803648"/>
            <a:ext cx="4502506" cy="1551432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9" name="Point 3 badge"/>
          <p:cNvSpPr/>
          <p:nvPr/>
        </p:nvSpPr>
        <p:spPr>
          <a:xfrm>
            <a:off x="7448702" y="5041392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0" name="Point 3 number"/>
          <p:cNvSpPr txBox="1"/>
          <p:nvPr/>
        </p:nvSpPr>
        <p:spPr>
          <a:xfrm>
            <a:off x="7448702" y="50413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21" name="Point 3 title"/>
          <p:cNvSpPr txBox="1"/>
          <p:nvPr/>
        </p:nvSpPr>
        <p:spPr>
          <a:xfrm>
            <a:off x="8024774" y="5004816"/>
            <a:ext cx="35423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배치 단위 추적</a:t>
            </a:r>
            <a:endParaRPr lang="en-US" sz="1500" dirty="0"/>
          </a:p>
        </p:txBody>
      </p:sp>
      <p:sp>
        <p:nvSpPr>
          <p:cNvPr id="22" name="Point 3 text"/>
          <p:cNvSpPr txBox="1"/>
          <p:nvPr/>
        </p:nvSpPr>
        <p:spPr>
          <a:xfrm>
            <a:off x="8024774" y="5498592"/>
            <a:ext cx="3542386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어느 CMO의 어느 배치가 지연됐는지 행을 펼쳐 바로 확인합니다.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9224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92608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⑥ CEO Cockpit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229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탭들의 핵심을 한 화면에 모은 경영진용 요약 화면입니다</a:t>
            </a:r>
            <a:endParaRPr lang="en-US" sz="1400" dirty="0"/>
          </a:p>
        </p:txBody>
      </p:sp>
      <p:sp>
        <p:nvSpPr>
          <p:cNvPr id="4" name="Section chip"/>
          <p:cNvSpPr/>
          <p:nvPr/>
        </p:nvSpPr>
        <p:spPr>
          <a:xfrm>
            <a:off x="9921240" y="384048"/>
            <a:ext cx="1828800" cy="36576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/>
        </p:spPr>
      </p:sp>
      <p:sp>
        <p:nvSpPr>
          <p:cNvPr id="5" name="Section chip label"/>
          <p:cNvSpPr txBox="1"/>
          <p:nvPr/>
        </p:nvSpPr>
        <p:spPr>
          <a:xfrm>
            <a:off x="9921240" y="38404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시연 ⑥</a:t>
            </a:r>
            <a:endParaRPr lang="en-US" sz="1100" dirty="0"/>
          </a:p>
        </p:txBody>
      </p:sp>
      <p:sp>
        <p:nvSpPr>
          <p:cNvPr id="6" name="Screen frame"/>
          <p:cNvSpPr/>
          <p:nvPr/>
        </p:nvSpPr>
        <p:spPr>
          <a:xfrm>
            <a:off x="420624" y="1335024"/>
            <a:ext cx="6452006" cy="5056632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  <a:effectLst>
            <a:outerShdw sx="100000" sy="100000" kx="0" ky="0" algn="bl" rotWithShape="0" blurRad="101600" dist="38100" dir="5400000">
              <a:srgbClr val="15224F">
                <a:alpha val="18000"/>
              </a:srgbClr>
            </a:outerShdw>
          </a:effectLst>
        </p:spPr>
      </p:sp>
      <p:pic>
        <p:nvPicPr>
          <p:cNvPr id="7" name="Dashboard screenshot" descr="대시보드 화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6378854" cy="4983480"/>
          </a:xfrm>
          <a:prstGeom prst="rect">
            <a:avLst/>
          </a:prstGeom>
        </p:spPr>
      </p:pic>
      <p:sp>
        <p:nvSpPr>
          <p:cNvPr id="8" name="Point 1 card"/>
          <p:cNvSpPr/>
          <p:nvPr/>
        </p:nvSpPr>
        <p:spPr>
          <a:xfrm>
            <a:off x="7247534" y="1371600"/>
            <a:ext cx="4502506" cy="1551432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9" name="Point 1 badge"/>
          <p:cNvSpPr/>
          <p:nvPr/>
        </p:nvSpPr>
        <p:spPr>
          <a:xfrm>
            <a:off x="7448702" y="1609344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0" name="Point 1 number"/>
          <p:cNvSpPr txBox="1"/>
          <p:nvPr/>
        </p:nvSpPr>
        <p:spPr>
          <a:xfrm>
            <a:off x="7448702" y="16093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1" name="Point 1 title"/>
          <p:cNvSpPr txBox="1"/>
          <p:nvPr/>
        </p:nvSpPr>
        <p:spPr>
          <a:xfrm>
            <a:off x="8024774" y="1572768"/>
            <a:ext cx="35423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4대 핵심 KPI 신호등</a:t>
            </a:r>
            <a:endParaRPr lang="en-US" sz="1500" dirty="0"/>
          </a:p>
        </p:txBody>
      </p:sp>
      <p:sp>
        <p:nvSpPr>
          <p:cNvPr id="12" name="Point 1 text"/>
          <p:cNvSpPr txBox="1"/>
          <p:nvPr/>
        </p:nvSpPr>
        <p:spPr>
          <a:xfrm>
            <a:off x="8024774" y="2066544"/>
            <a:ext cx="3542386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OTIF, 판매계획 정확도, FG 재고일수, CMO 일정 달성률을 Green · Amber · Red로 표시합니다.</a:t>
            </a:r>
            <a:endParaRPr lang="en-US" sz="1200" dirty="0"/>
          </a:p>
        </p:txBody>
      </p:sp>
      <p:sp>
        <p:nvSpPr>
          <p:cNvPr id="13" name="Point 2 card"/>
          <p:cNvSpPr/>
          <p:nvPr/>
        </p:nvSpPr>
        <p:spPr>
          <a:xfrm>
            <a:off x="7247534" y="3087624"/>
            <a:ext cx="4502506" cy="1551432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4" name="Point 2 badge"/>
          <p:cNvSpPr/>
          <p:nvPr/>
        </p:nvSpPr>
        <p:spPr>
          <a:xfrm>
            <a:off x="7448702" y="3325368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5" name="Point 2 number"/>
          <p:cNvSpPr txBox="1"/>
          <p:nvPr/>
        </p:nvSpPr>
        <p:spPr>
          <a:xfrm>
            <a:off x="7448702" y="33253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6" name="Point 2 title"/>
          <p:cNvSpPr txBox="1"/>
          <p:nvPr/>
        </p:nvSpPr>
        <p:spPr>
          <a:xfrm>
            <a:off x="8024774" y="3288792"/>
            <a:ext cx="35423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원천 탭으로 드릴다운</a:t>
            </a:r>
            <a:endParaRPr lang="en-US" sz="1500" dirty="0"/>
          </a:p>
        </p:txBody>
      </p:sp>
      <p:sp>
        <p:nvSpPr>
          <p:cNvPr id="17" name="Point 2 text"/>
          <p:cNvSpPr txBox="1"/>
          <p:nvPr/>
        </p:nvSpPr>
        <p:spPr>
          <a:xfrm>
            <a:off x="8024774" y="3782568"/>
            <a:ext cx="3542386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주의나 미달 카드를 클릭하면 해당 상세 탭으로 내려가 원인을 확인합니다.</a:t>
            </a:r>
            <a:endParaRPr lang="en-US" sz="1200" dirty="0"/>
          </a:p>
        </p:txBody>
      </p:sp>
      <p:sp>
        <p:nvSpPr>
          <p:cNvPr id="18" name="Point 3 card"/>
          <p:cNvSpPr/>
          <p:nvPr/>
        </p:nvSpPr>
        <p:spPr>
          <a:xfrm>
            <a:off x="7247534" y="4803648"/>
            <a:ext cx="4502506" cy="1551432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9" name="Point 3 badge"/>
          <p:cNvSpPr/>
          <p:nvPr/>
        </p:nvSpPr>
        <p:spPr>
          <a:xfrm>
            <a:off x="7448702" y="5041392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0" name="Point 3 number"/>
          <p:cNvSpPr txBox="1"/>
          <p:nvPr/>
        </p:nvSpPr>
        <p:spPr>
          <a:xfrm>
            <a:off x="7448702" y="50413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21" name="Point 3 title"/>
          <p:cNvSpPr txBox="1"/>
          <p:nvPr/>
        </p:nvSpPr>
        <p:spPr>
          <a:xfrm>
            <a:off x="8024774" y="5004816"/>
            <a:ext cx="35423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Business Flow Analytics</a:t>
            </a:r>
            <a:endParaRPr lang="en-US" sz="1500" dirty="0"/>
          </a:p>
        </p:txBody>
      </p:sp>
      <p:sp>
        <p:nvSpPr>
          <p:cNvPr id="22" name="Point 3 text"/>
          <p:cNvSpPr txBox="1"/>
          <p:nvPr/>
        </p:nvSpPr>
        <p:spPr>
          <a:xfrm>
            <a:off x="8024774" y="5498592"/>
            <a:ext cx="3542386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파트너별 누적 판매와 목표 대비 실적 같은 핵심 차트를 함께 봅니다.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9224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92608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Supply Chain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229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원료부터 완제품, 파트너까지 공급망 구조를 봅니다</a:t>
            </a:r>
            <a:endParaRPr lang="en-US" sz="1400" dirty="0"/>
          </a:p>
        </p:txBody>
      </p:sp>
      <p:sp>
        <p:nvSpPr>
          <p:cNvPr id="4" name="Section chip"/>
          <p:cNvSpPr/>
          <p:nvPr/>
        </p:nvSpPr>
        <p:spPr>
          <a:xfrm>
            <a:off x="9921240" y="384048"/>
            <a:ext cx="182880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5" name="Section chip label"/>
          <p:cNvSpPr txBox="1"/>
          <p:nvPr/>
        </p:nvSpPr>
        <p:spPr>
          <a:xfrm>
            <a:off x="9921240" y="38404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상세 탭</a:t>
            </a:r>
            <a:endParaRPr lang="en-US" sz="1100" dirty="0"/>
          </a:p>
        </p:txBody>
      </p:sp>
      <p:sp>
        <p:nvSpPr>
          <p:cNvPr id="6" name="Screen frame"/>
          <p:cNvSpPr/>
          <p:nvPr/>
        </p:nvSpPr>
        <p:spPr>
          <a:xfrm>
            <a:off x="420624" y="1335024"/>
            <a:ext cx="6452006" cy="5056632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  <a:effectLst>
            <a:outerShdw sx="100000" sy="100000" kx="0" ky="0" algn="bl" rotWithShape="0" blurRad="101600" dist="38100" dir="5400000">
              <a:srgbClr val="15224F">
                <a:alpha val="18000"/>
              </a:srgbClr>
            </a:outerShdw>
          </a:effectLst>
        </p:spPr>
      </p:sp>
      <p:pic>
        <p:nvPicPr>
          <p:cNvPr id="7" name="Dashboard screenshot" descr="대시보드 화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6378854" cy="4983480"/>
          </a:xfrm>
          <a:prstGeom prst="rect">
            <a:avLst/>
          </a:prstGeom>
        </p:spPr>
      </p:pic>
      <p:sp>
        <p:nvSpPr>
          <p:cNvPr id="8" name="Point 1 card"/>
          <p:cNvSpPr/>
          <p:nvPr/>
        </p:nvSpPr>
        <p:spPr>
          <a:xfrm>
            <a:off x="7247534" y="1371600"/>
            <a:ext cx="4502506" cy="1551432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9" name="Point 1 badge"/>
          <p:cNvSpPr/>
          <p:nvPr/>
        </p:nvSpPr>
        <p:spPr>
          <a:xfrm>
            <a:off x="7448702" y="1609344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0" name="Point 1 number"/>
          <p:cNvSpPr txBox="1"/>
          <p:nvPr/>
        </p:nvSpPr>
        <p:spPr>
          <a:xfrm>
            <a:off x="7448702" y="16093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1" name="Point 1 title"/>
          <p:cNvSpPr txBox="1"/>
          <p:nvPr/>
        </p:nvSpPr>
        <p:spPr>
          <a:xfrm>
            <a:off x="8024774" y="1572768"/>
            <a:ext cx="35423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제조 흐름도</a:t>
            </a:r>
            <a:endParaRPr lang="en-US" sz="1500" dirty="0"/>
          </a:p>
        </p:txBody>
      </p:sp>
      <p:sp>
        <p:nvSpPr>
          <p:cNvPr id="12" name="Point 1 text"/>
          <p:cNvSpPr txBox="1"/>
          <p:nvPr/>
        </p:nvSpPr>
        <p:spPr>
          <a:xfrm>
            <a:off x="8024774" y="2066544"/>
            <a:ext cx="3542386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RSM → API → DP → Packaging 단계별 CMO와 공급 비중을 보여줍니다.</a:t>
            </a:r>
            <a:endParaRPr lang="en-US" sz="1200" dirty="0"/>
          </a:p>
        </p:txBody>
      </p:sp>
      <p:sp>
        <p:nvSpPr>
          <p:cNvPr id="13" name="Point 2 card"/>
          <p:cNvSpPr/>
          <p:nvPr/>
        </p:nvSpPr>
        <p:spPr>
          <a:xfrm>
            <a:off x="7247534" y="3087624"/>
            <a:ext cx="4502506" cy="1551432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4" name="Point 2 badge"/>
          <p:cNvSpPr/>
          <p:nvPr/>
        </p:nvSpPr>
        <p:spPr>
          <a:xfrm>
            <a:off x="7448702" y="3325368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5" name="Point 2 number"/>
          <p:cNvSpPr txBox="1"/>
          <p:nvPr/>
        </p:nvSpPr>
        <p:spPr>
          <a:xfrm>
            <a:off x="7448702" y="33253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6" name="Point 2 title"/>
          <p:cNvSpPr txBox="1"/>
          <p:nvPr/>
        </p:nvSpPr>
        <p:spPr>
          <a:xfrm>
            <a:off x="8024774" y="3288792"/>
            <a:ext cx="35423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판매 파트너</a:t>
            </a:r>
            <a:endParaRPr lang="en-US" sz="1500" dirty="0"/>
          </a:p>
        </p:txBody>
      </p:sp>
      <p:sp>
        <p:nvSpPr>
          <p:cNvPr id="17" name="Point 2 text"/>
          <p:cNvSpPr txBox="1"/>
          <p:nvPr/>
        </p:nvSpPr>
        <p:spPr>
          <a:xfrm>
            <a:off x="8024774" y="3782568"/>
            <a:ext cx="3542386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API · DP · FP 공급 유형별로 하류 파트너를 묶어 보여줍니다.</a:t>
            </a:r>
            <a:endParaRPr lang="en-US" sz="1200" dirty="0"/>
          </a:p>
        </p:txBody>
      </p:sp>
      <p:sp>
        <p:nvSpPr>
          <p:cNvPr id="18" name="Point 3 card"/>
          <p:cNvSpPr/>
          <p:nvPr/>
        </p:nvSpPr>
        <p:spPr>
          <a:xfrm>
            <a:off x="7247534" y="4803648"/>
            <a:ext cx="4502506" cy="1551432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9" name="Point 3 badge"/>
          <p:cNvSpPr/>
          <p:nvPr/>
        </p:nvSpPr>
        <p:spPr>
          <a:xfrm>
            <a:off x="7448702" y="5041392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0" name="Point 3 number"/>
          <p:cNvSpPr txBox="1"/>
          <p:nvPr/>
        </p:nvSpPr>
        <p:spPr>
          <a:xfrm>
            <a:off x="7448702" y="50413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21" name="Point 3 title"/>
          <p:cNvSpPr txBox="1"/>
          <p:nvPr/>
        </p:nvSpPr>
        <p:spPr>
          <a:xfrm>
            <a:off x="8024774" y="5004816"/>
            <a:ext cx="35423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네 가지 보기</a:t>
            </a:r>
            <a:endParaRPr lang="en-US" sz="1500" dirty="0"/>
          </a:p>
        </p:txBody>
      </p:sp>
      <p:sp>
        <p:nvSpPr>
          <p:cNvPr id="22" name="Point 3 text"/>
          <p:cNvSpPr txBox="1"/>
          <p:nvPr/>
        </p:nvSpPr>
        <p:spPr>
          <a:xfrm>
            <a:off x="8024774" y="5498592"/>
            <a:ext cx="3542386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Flow Diagram · World Map · BOM Hierarchy · Supply Matrix로 전환합니다.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9224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92608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Plan vs PO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229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판매계획 대비 CMO 발주가 충분한지 확인합니다</a:t>
            </a:r>
            <a:endParaRPr lang="en-US" sz="1400" dirty="0"/>
          </a:p>
        </p:txBody>
      </p:sp>
      <p:sp>
        <p:nvSpPr>
          <p:cNvPr id="4" name="Section chip"/>
          <p:cNvSpPr/>
          <p:nvPr/>
        </p:nvSpPr>
        <p:spPr>
          <a:xfrm>
            <a:off x="9921240" y="384048"/>
            <a:ext cx="182880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5" name="Section chip label"/>
          <p:cNvSpPr txBox="1"/>
          <p:nvPr/>
        </p:nvSpPr>
        <p:spPr>
          <a:xfrm>
            <a:off x="9921240" y="38404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상세 탭</a:t>
            </a:r>
            <a:endParaRPr lang="en-US" sz="1100" dirty="0"/>
          </a:p>
        </p:txBody>
      </p:sp>
      <p:sp>
        <p:nvSpPr>
          <p:cNvPr id="6" name="Screen frame"/>
          <p:cNvSpPr/>
          <p:nvPr/>
        </p:nvSpPr>
        <p:spPr>
          <a:xfrm>
            <a:off x="420624" y="1335024"/>
            <a:ext cx="6452006" cy="5056632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  <a:effectLst>
            <a:outerShdw sx="100000" sy="100000" kx="0" ky="0" algn="bl" rotWithShape="0" blurRad="101600" dist="38100" dir="5400000">
              <a:srgbClr val="15224F">
                <a:alpha val="18000"/>
              </a:srgbClr>
            </a:outerShdw>
          </a:effectLst>
        </p:spPr>
      </p:sp>
      <p:pic>
        <p:nvPicPr>
          <p:cNvPr id="7" name="Dashboard screenshot" descr="대시보드 화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6378854" cy="4983480"/>
          </a:xfrm>
          <a:prstGeom prst="rect">
            <a:avLst/>
          </a:prstGeom>
        </p:spPr>
      </p:pic>
      <p:sp>
        <p:nvSpPr>
          <p:cNvPr id="8" name="Point 1 card"/>
          <p:cNvSpPr/>
          <p:nvPr/>
        </p:nvSpPr>
        <p:spPr>
          <a:xfrm>
            <a:off x="7247534" y="1371600"/>
            <a:ext cx="4502506" cy="1551432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9" name="Point 1 badge"/>
          <p:cNvSpPr/>
          <p:nvPr/>
        </p:nvSpPr>
        <p:spPr>
          <a:xfrm>
            <a:off x="7448702" y="1609344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0" name="Point 1 number"/>
          <p:cNvSpPr txBox="1"/>
          <p:nvPr/>
        </p:nvSpPr>
        <p:spPr>
          <a:xfrm>
            <a:off x="7448702" y="16093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1" name="Point 1 title"/>
          <p:cNvSpPr txBox="1"/>
          <p:nvPr/>
        </p:nvSpPr>
        <p:spPr>
          <a:xfrm>
            <a:off x="8024774" y="1572768"/>
            <a:ext cx="35423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계획 대비 발주</a:t>
            </a:r>
            <a:endParaRPr lang="en-US" sz="1500" dirty="0"/>
          </a:p>
        </p:txBody>
      </p:sp>
      <p:sp>
        <p:nvSpPr>
          <p:cNvPr id="12" name="Point 1 text"/>
          <p:cNvSpPr txBox="1"/>
          <p:nvPr/>
        </p:nvSpPr>
        <p:spPr>
          <a:xfrm>
            <a:off x="8024774" y="2066544"/>
            <a:ext cx="3542386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CMO 발주(PO) 계획과 실제 발주를 월별로 비교합니다.</a:t>
            </a:r>
            <a:endParaRPr lang="en-US" sz="1200" dirty="0"/>
          </a:p>
        </p:txBody>
      </p:sp>
      <p:sp>
        <p:nvSpPr>
          <p:cNvPr id="13" name="Point 2 card"/>
          <p:cNvSpPr/>
          <p:nvPr/>
        </p:nvSpPr>
        <p:spPr>
          <a:xfrm>
            <a:off x="7247534" y="3087624"/>
            <a:ext cx="4502506" cy="1551432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4" name="Point 2 badge"/>
          <p:cNvSpPr/>
          <p:nvPr/>
        </p:nvSpPr>
        <p:spPr>
          <a:xfrm>
            <a:off x="7448702" y="3325368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5" name="Point 2 number"/>
          <p:cNvSpPr txBox="1"/>
          <p:nvPr/>
        </p:nvSpPr>
        <p:spPr>
          <a:xfrm>
            <a:off x="7448702" y="33253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6" name="Point 2 title"/>
          <p:cNvSpPr txBox="1"/>
          <p:nvPr/>
        </p:nvSpPr>
        <p:spPr>
          <a:xfrm>
            <a:off x="8024774" y="3288792"/>
            <a:ext cx="35423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시장 · SKU 필터</a:t>
            </a:r>
            <a:endParaRPr lang="en-US" sz="1500" dirty="0"/>
          </a:p>
        </p:txBody>
      </p:sp>
      <p:sp>
        <p:nvSpPr>
          <p:cNvPr id="17" name="Point 2 text"/>
          <p:cNvSpPr txBox="1"/>
          <p:nvPr/>
        </p:nvSpPr>
        <p:spPr>
          <a:xfrm>
            <a:off x="8024774" y="3782568"/>
            <a:ext cx="3542386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시장과 SKU를 골라 필요한 범위만 봅니다.</a:t>
            </a:r>
            <a:endParaRPr lang="en-US" sz="1200" dirty="0"/>
          </a:p>
        </p:txBody>
      </p:sp>
      <p:sp>
        <p:nvSpPr>
          <p:cNvPr id="18" name="Point 3 card"/>
          <p:cNvSpPr/>
          <p:nvPr/>
        </p:nvSpPr>
        <p:spPr>
          <a:xfrm>
            <a:off x="7247534" y="4803648"/>
            <a:ext cx="4502506" cy="1551432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9" name="Point 3 badge"/>
          <p:cNvSpPr/>
          <p:nvPr/>
        </p:nvSpPr>
        <p:spPr>
          <a:xfrm>
            <a:off x="7448702" y="5041392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0" name="Point 3 number"/>
          <p:cNvSpPr txBox="1"/>
          <p:nvPr/>
        </p:nvSpPr>
        <p:spPr>
          <a:xfrm>
            <a:off x="7448702" y="50413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21" name="Point 3 title"/>
          <p:cNvSpPr txBox="1"/>
          <p:nvPr/>
        </p:nvSpPr>
        <p:spPr>
          <a:xfrm>
            <a:off x="8024774" y="5004816"/>
            <a:ext cx="35423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발주 상태</a:t>
            </a:r>
            <a:endParaRPr lang="en-US" sz="1500" dirty="0"/>
          </a:p>
        </p:txBody>
      </p:sp>
      <p:sp>
        <p:nvSpPr>
          <p:cNvPr id="22" name="Point 3 text"/>
          <p:cNvSpPr txBox="1"/>
          <p:nvPr/>
        </p:nvSpPr>
        <p:spPr>
          <a:xfrm>
            <a:off x="8024774" y="5498592"/>
            <a:ext cx="3542386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On Track · Behind · Not Ordered로 발주 누락을 미리 찾습니다.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9224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92608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Quality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229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품질 이벤트와 배치 출하 리드타임을 관리합니다</a:t>
            </a:r>
            <a:endParaRPr lang="en-US" sz="1400" dirty="0"/>
          </a:p>
        </p:txBody>
      </p:sp>
      <p:sp>
        <p:nvSpPr>
          <p:cNvPr id="4" name="Section chip"/>
          <p:cNvSpPr/>
          <p:nvPr/>
        </p:nvSpPr>
        <p:spPr>
          <a:xfrm>
            <a:off x="9921240" y="384048"/>
            <a:ext cx="182880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5" name="Section chip label"/>
          <p:cNvSpPr txBox="1"/>
          <p:nvPr/>
        </p:nvSpPr>
        <p:spPr>
          <a:xfrm>
            <a:off x="9921240" y="38404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상세 탭</a:t>
            </a:r>
            <a:endParaRPr lang="en-US" sz="1100" dirty="0"/>
          </a:p>
        </p:txBody>
      </p:sp>
      <p:sp>
        <p:nvSpPr>
          <p:cNvPr id="6" name="Screen frame"/>
          <p:cNvSpPr/>
          <p:nvPr/>
        </p:nvSpPr>
        <p:spPr>
          <a:xfrm>
            <a:off x="420624" y="1335024"/>
            <a:ext cx="6452006" cy="5056632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  <a:effectLst>
            <a:outerShdw sx="100000" sy="100000" kx="0" ky="0" algn="bl" rotWithShape="0" blurRad="101600" dist="38100" dir="5400000">
              <a:srgbClr val="15224F">
                <a:alpha val="18000"/>
              </a:srgbClr>
            </a:outerShdw>
          </a:effectLst>
        </p:spPr>
      </p:sp>
      <p:pic>
        <p:nvPicPr>
          <p:cNvPr id="7" name="Dashboard screenshot" descr="대시보드 화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6378854" cy="4983480"/>
          </a:xfrm>
          <a:prstGeom prst="rect">
            <a:avLst/>
          </a:prstGeom>
        </p:spPr>
      </p:pic>
      <p:sp>
        <p:nvSpPr>
          <p:cNvPr id="8" name="Point 1 card"/>
          <p:cNvSpPr/>
          <p:nvPr/>
        </p:nvSpPr>
        <p:spPr>
          <a:xfrm>
            <a:off x="7247534" y="1371600"/>
            <a:ext cx="4502506" cy="1551432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9" name="Point 1 badge"/>
          <p:cNvSpPr/>
          <p:nvPr/>
        </p:nvSpPr>
        <p:spPr>
          <a:xfrm>
            <a:off x="7448702" y="1609344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0" name="Point 1 number"/>
          <p:cNvSpPr txBox="1"/>
          <p:nvPr/>
        </p:nvSpPr>
        <p:spPr>
          <a:xfrm>
            <a:off x="7448702" y="16093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1" name="Point 1 title"/>
          <p:cNvSpPr txBox="1"/>
          <p:nvPr/>
        </p:nvSpPr>
        <p:spPr>
          <a:xfrm>
            <a:off x="8024774" y="1572768"/>
            <a:ext cx="35423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품질 KPI</a:t>
            </a:r>
            <a:endParaRPr lang="en-US" sz="1500" dirty="0"/>
          </a:p>
        </p:txBody>
      </p:sp>
      <p:sp>
        <p:nvSpPr>
          <p:cNvPr id="12" name="Point 1 text"/>
          <p:cNvSpPr txBox="1"/>
          <p:nvPr/>
        </p:nvSpPr>
        <p:spPr>
          <a:xfrm>
            <a:off x="8024774" y="2066544"/>
            <a:ext cx="3542386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BRR TAT, 주요 품질 이벤트, 기한 초과 비율을 신호등으로 봅니다.</a:t>
            </a:r>
            <a:endParaRPr lang="en-US" sz="1200" dirty="0"/>
          </a:p>
        </p:txBody>
      </p:sp>
      <p:sp>
        <p:nvSpPr>
          <p:cNvPr id="13" name="Point 2 card"/>
          <p:cNvSpPr/>
          <p:nvPr/>
        </p:nvSpPr>
        <p:spPr>
          <a:xfrm>
            <a:off x="7247534" y="3087624"/>
            <a:ext cx="4502506" cy="1551432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4" name="Point 2 badge"/>
          <p:cNvSpPr/>
          <p:nvPr/>
        </p:nvSpPr>
        <p:spPr>
          <a:xfrm>
            <a:off x="7448702" y="3325368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5" name="Point 2 number"/>
          <p:cNvSpPr txBox="1"/>
          <p:nvPr/>
        </p:nvSpPr>
        <p:spPr>
          <a:xfrm>
            <a:off x="7448702" y="33253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6" name="Point 2 title"/>
          <p:cNvSpPr txBox="1"/>
          <p:nvPr/>
        </p:nvSpPr>
        <p:spPr>
          <a:xfrm>
            <a:off x="8024774" y="3288792"/>
            <a:ext cx="35423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BRR TAT 추이</a:t>
            </a:r>
            <a:endParaRPr lang="en-US" sz="1500" dirty="0"/>
          </a:p>
        </p:txBody>
      </p:sp>
      <p:sp>
        <p:nvSpPr>
          <p:cNvPr id="17" name="Point 2 text"/>
          <p:cNvSpPr txBox="1"/>
          <p:nvPr/>
        </p:nvSpPr>
        <p:spPr>
          <a:xfrm>
            <a:off x="8024774" y="3782568"/>
            <a:ext cx="3542386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월별 추이와 사이트별 TAT를 비교합니다.</a:t>
            </a:r>
            <a:endParaRPr lang="en-US" sz="1200" dirty="0"/>
          </a:p>
        </p:txBody>
      </p:sp>
      <p:sp>
        <p:nvSpPr>
          <p:cNvPr id="18" name="Point 3 card"/>
          <p:cNvSpPr/>
          <p:nvPr/>
        </p:nvSpPr>
        <p:spPr>
          <a:xfrm>
            <a:off x="7247534" y="4803648"/>
            <a:ext cx="4502506" cy="1551432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9" name="Point 3 badge"/>
          <p:cNvSpPr/>
          <p:nvPr/>
        </p:nvSpPr>
        <p:spPr>
          <a:xfrm>
            <a:off x="7448702" y="5041392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0" name="Point 3 number"/>
          <p:cNvSpPr txBox="1"/>
          <p:nvPr/>
        </p:nvSpPr>
        <p:spPr>
          <a:xfrm>
            <a:off x="7448702" y="50413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21" name="Point 3 title"/>
          <p:cNvSpPr txBox="1"/>
          <p:nvPr/>
        </p:nvSpPr>
        <p:spPr>
          <a:xfrm>
            <a:off x="8024774" y="5004816"/>
            <a:ext cx="35423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Deviation · CAPA</a:t>
            </a:r>
            <a:endParaRPr lang="en-US" sz="1500" dirty="0"/>
          </a:p>
        </p:txBody>
      </p:sp>
      <p:sp>
        <p:nvSpPr>
          <p:cNvPr id="22" name="Point 3 text"/>
          <p:cNvSpPr txBox="1"/>
          <p:nvPr/>
        </p:nvSpPr>
        <p:spPr>
          <a:xfrm>
            <a:off x="8024774" y="5498592"/>
            <a:ext cx="3542386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Deviation/CC/CAPA 경과일과 주요 원인(Pareto)을 봅니다.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9224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92608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Contract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229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계약, CMO 지출, 원가를 한 곳에서 봅니다</a:t>
            </a:r>
            <a:endParaRPr lang="en-US" sz="1400" dirty="0"/>
          </a:p>
        </p:txBody>
      </p:sp>
      <p:sp>
        <p:nvSpPr>
          <p:cNvPr id="4" name="Section chip"/>
          <p:cNvSpPr/>
          <p:nvPr/>
        </p:nvSpPr>
        <p:spPr>
          <a:xfrm>
            <a:off x="9921240" y="384048"/>
            <a:ext cx="182880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5" name="Section chip label"/>
          <p:cNvSpPr txBox="1"/>
          <p:nvPr/>
        </p:nvSpPr>
        <p:spPr>
          <a:xfrm>
            <a:off x="9921240" y="38404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상세 탭</a:t>
            </a:r>
            <a:endParaRPr lang="en-US" sz="1100" dirty="0"/>
          </a:p>
        </p:txBody>
      </p:sp>
      <p:sp>
        <p:nvSpPr>
          <p:cNvPr id="6" name="Screen frame"/>
          <p:cNvSpPr/>
          <p:nvPr/>
        </p:nvSpPr>
        <p:spPr>
          <a:xfrm>
            <a:off x="420624" y="1335024"/>
            <a:ext cx="6452006" cy="5056632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  <a:effectLst>
            <a:outerShdw sx="100000" sy="100000" kx="0" ky="0" algn="bl" rotWithShape="0" blurRad="101600" dist="38100" dir="5400000">
              <a:srgbClr val="15224F">
                <a:alpha val="18000"/>
              </a:srgbClr>
            </a:outerShdw>
          </a:effectLst>
        </p:spPr>
      </p:sp>
      <p:pic>
        <p:nvPicPr>
          <p:cNvPr id="7" name="Dashboard screenshot" descr="대시보드 화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6378854" cy="4983480"/>
          </a:xfrm>
          <a:prstGeom prst="rect">
            <a:avLst/>
          </a:prstGeom>
        </p:spPr>
      </p:pic>
      <p:sp>
        <p:nvSpPr>
          <p:cNvPr id="8" name="Point 1 card"/>
          <p:cNvSpPr/>
          <p:nvPr/>
        </p:nvSpPr>
        <p:spPr>
          <a:xfrm>
            <a:off x="7247534" y="1371600"/>
            <a:ext cx="4502506" cy="1551432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9" name="Point 1 badge"/>
          <p:cNvSpPr/>
          <p:nvPr/>
        </p:nvSpPr>
        <p:spPr>
          <a:xfrm>
            <a:off x="7448702" y="1609344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0" name="Point 1 number"/>
          <p:cNvSpPr txBox="1"/>
          <p:nvPr/>
        </p:nvSpPr>
        <p:spPr>
          <a:xfrm>
            <a:off x="7448702" y="16093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1" name="Point 1 title"/>
          <p:cNvSpPr txBox="1"/>
          <p:nvPr/>
        </p:nvSpPr>
        <p:spPr>
          <a:xfrm>
            <a:off x="8024774" y="1572768"/>
            <a:ext cx="35423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지출 KPI</a:t>
            </a:r>
            <a:endParaRPr lang="en-US" sz="1500" dirty="0"/>
          </a:p>
        </p:txBody>
      </p:sp>
      <p:sp>
        <p:nvSpPr>
          <p:cNvPr id="12" name="Point 1 text"/>
          <p:cNvSpPr txBox="1"/>
          <p:nvPr/>
        </p:nvSpPr>
        <p:spPr>
          <a:xfrm>
            <a:off x="8024774" y="2066544"/>
            <a:ext cx="3542386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예산 대비 지출, 연체 지급액, 90일 내 만료 계약을 봅니다.</a:t>
            </a:r>
            <a:endParaRPr lang="en-US" sz="1200" dirty="0"/>
          </a:p>
        </p:txBody>
      </p:sp>
      <p:sp>
        <p:nvSpPr>
          <p:cNvPr id="13" name="Point 2 card"/>
          <p:cNvSpPr/>
          <p:nvPr/>
        </p:nvSpPr>
        <p:spPr>
          <a:xfrm>
            <a:off x="7247534" y="3087624"/>
            <a:ext cx="4502506" cy="1551432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4" name="Point 2 badge"/>
          <p:cNvSpPr/>
          <p:nvPr/>
        </p:nvSpPr>
        <p:spPr>
          <a:xfrm>
            <a:off x="7448702" y="3325368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5" name="Point 2 number"/>
          <p:cNvSpPr txBox="1"/>
          <p:nvPr/>
        </p:nvSpPr>
        <p:spPr>
          <a:xfrm>
            <a:off x="7448702" y="33253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6" name="Point 2 title"/>
          <p:cNvSpPr txBox="1"/>
          <p:nvPr/>
        </p:nvSpPr>
        <p:spPr>
          <a:xfrm>
            <a:off x="8024774" y="3288792"/>
            <a:ext cx="35423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갱신 캘린더 · 지출 추이</a:t>
            </a:r>
            <a:endParaRPr lang="en-US" sz="1500" dirty="0"/>
          </a:p>
        </p:txBody>
      </p:sp>
      <p:sp>
        <p:nvSpPr>
          <p:cNvPr id="17" name="Point 2 text"/>
          <p:cNvSpPr txBox="1"/>
          <p:nvPr/>
        </p:nvSpPr>
        <p:spPr>
          <a:xfrm>
            <a:off x="8024774" y="3782568"/>
            <a:ext cx="3542386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계약 갱신 일정과 CMO 지출 대비 예산 추이를 함께 봅니다.</a:t>
            </a:r>
            <a:endParaRPr lang="en-US" sz="1200" dirty="0"/>
          </a:p>
        </p:txBody>
      </p:sp>
      <p:sp>
        <p:nvSpPr>
          <p:cNvPr id="18" name="Point 3 card"/>
          <p:cNvSpPr/>
          <p:nvPr/>
        </p:nvSpPr>
        <p:spPr>
          <a:xfrm>
            <a:off x="7247534" y="4803648"/>
            <a:ext cx="4502506" cy="1551432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9" name="Point 3 badge"/>
          <p:cNvSpPr/>
          <p:nvPr/>
        </p:nvSpPr>
        <p:spPr>
          <a:xfrm>
            <a:off x="7448702" y="5041392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0" name="Point 3 number"/>
          <p:cNvSpPr txBox="1"/>
          <p:nvPr/>
        </p:nvSpPr>
        <p:spPr>
          <a:xfrm>
            <a:off x="7448702" y="50413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21" name="Point 3 title"/>
          <p:cNvSpPr txBox="1"/>
          <p:nvPr/>
        </p:nvSpPr>
        <p:spPr>
          <a:xfrm>
            <a:off x="8024774" y="5004816"/>
            <a:ext cx="35423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COGS 분석</a:t>
            </a:r>
            <a:endParaRPr lang="en-US" sz="1500" dirty="0"/>
          </a:p>
        </p:txBody>
      </p:sp>
      <p:sp>
        <p:nvSpPr>
          <p:cNvPr id="22" name="Point 3 text"/>
          <p:cNvSpPr txBox="1"/>
          <p:nvPr/>
        </p:nvSpPr>
        <p:spPr>
          <a:xfrm>
            <a:off x="8024774" y="5498592"/>
            <a:ext cx="3542386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Material Ledger 기준 원가 구성과 차이를 봅니다.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9224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92608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Project PMO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229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공급망 관련 프로젝트의 진행 상황을 관리합니다</a:t>
            </a:r>
            <a:endParaRPr lang="en-US" sz="1400" dirty="0"/>
          </a:p>
        </p:txBody>
      </p:sp>
      <p:sp>
        <p:nvSpPr>
          <p:cNvPr id="4" name="Section chip"/>
          <p:cNvSpPr/>
          <p:nvPr/>
        </p:nvSpPr>
        <p:spPr>
          <a:xfrm>
            <a:off x="9921240" y="384048"/>
            <a:ext cx="182880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5" name="Section chip label"/>
          <p:cNvSpPr txBox="1"/>
          <p:nvPr/>
        </p:nvSpPr>
        <p:spPr>
          <a:xfrm>
            <a:off x="9921240" y="38404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상세 탭</a:t>
            </a:r>
            <a:endParaRPr lang="en-US" sz="1100" dirty="0"/>
          </a:p>
        </p:txBody>
      </p:sp>
      <p:sp>
        <p:nvSpPr>
          <p:cNvPr id="6" name="Screen frame"/>
          <p:cNvSpPr/>
          <p:nvPr/>
        </p:nvSpPr>
        <p:spPr>
          <a:xfrm>
            <a:off x="420624" y="1335024"/>
            <a:ext cx="6452006" cy="5056632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  <a:effectLst>
            <a:outerShdw sx="100000" sy="100000" kx="0" ky="0" algn="bl" rotWithShape="0" blurRad="101600" dist="38100" dir="5400000">
              <a:srgbClr val="15224F">
                <a:alpha val="18000"/>
              </a:srgbClr>
            </a:outerShdw>
          </a:effectLst>
        </p:spPr>
      </p:sp>
      <p:pic>
        <p:nvPicPr>
          <p:cNvPr id="7" name="Dashboard screenshot" descr="대시보드 화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6378854" cy="4983480"/>
          </a:xfrm>
          <a:prstGeom prst="rect">
            <a:avLst/>
          </a:prstGeom>
        </p:spPr>
      </p:pic>
      <p:sp>
        <p:nvSpPr>
          <p:cNvPr id="8" name="Point 1 card"/>
          <p:cNvSpPr/>
          <p:nvPr/>
        </p:nvSpPr>
        <p:spPr>
          <a:xfrm>
            <a:off x="7247534" y="1371600"/>
            <a:ext cx="4502506" cy="1551432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9" name="Point 1 badge"/>
          <p:cNvSpPr/>
          <p:nvPr/>
        </p:nvSpPr>
        <p:spPr>
          <a:xfrm>
            <a:off x="7448702" y="1609344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0" name="Point 1 number"/>
          <p:cNvSpPr txBox="1"/>
          <p:nvPr/>
        </p:nvSpPr>
        <p:spPr>
          <a:xfrm>
            <a:off x="7448702" y="16093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1" name="Point 1 title"/>
          <p:cNvSpPr txBox="1"/>
          <p:nvPr/>
        </p:nvSpPr>
        <p:spPr>
          <a:xfrm>
            <a:off x="8024774" y="1572768"/>
            <a:ext cx="35423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프로젝트 KPI</a:t>
            </a:r>
            <a:endParaRPr lang="en-US" sz="1500" dirty="0"/>
          </a:p>
        </p:txBody>
      </p:sp>
      <p:sp>
        <p:nvSpPr>
          <p:cNvPr id="12" name="Point 1 text"/>
          <p:cNvSpPr txBox="1"/>
          <p:nvPr/>
        </p:nvSpPr>
        <p:spPr>
          <a:xfrm>
            <a:off x="8024774" y="2066544"/>
            <a:ext cx="3542386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Red 프로젝트 수, 마일스톤 달성률, 미결 의사결정을 봅니다.</a:t>
            </a:r>
            <a:endParaRPr lang="en-US" sz="1200" dirty="0"/>
          </a:p>
        </p:txBody>
      </p:sp>
      <p:sp>
        <p:nvSpPr>
          <p:cNvPr id="13" name="Point 2 card"/>
          <p:cNvSpPr/>
          <p:nvPr/>
        </p:nvSpPr>
        <p:spPr>
          <a:xfrm>
            <a:off x="7247534" y="3087624"/>
            <a:ext cx="4502506" cy="1551432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4" name="Point 2 badge"/>
          <p:cNvSpPr/>
          <p:nvPr/>
        </p:nvSpPr>
        <p:spPr>
          <a:xfrm>
            <a:off x="7448702" y="3325368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5" name="Point 2 number"/>
          <p:cNvSpPr txBox="1"/>
          <p:nvPr/>
        </p:nvSpPr>
        <p:spPr>
          <a:xfrm>
            <a:off x="7448702" y="33253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6" name="Point 2 title"/>
          <p:cNvSpPr txBox="1"/>
          <p:nvPr/>
        </p:nvSpPr>
        <p:spPr>
          <a:xfrm>
            <a:off x="8024774" y="3288792"/>
            <a:ext cx="35423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Portfolio RAG Matrix</a:t>
            </a:r>
            <a:endParaRPr lang="en-US" sz="1500" dirty="0"/>
          </a:p>
        </p:txBody>
      </p:sp>
      <p:sp>
        <p:nvSpPr>
          <p:cNvPr id="17" name="Point 2 text"/>
          <p:cNvSpPr txBox="1"/>
          <p:nvPr/>
        </p:nvSpPr>
        <p:spPr>
          <a:xfrm>
            <a:off x="8024774" y="3782568"/>
            <a:ext cx="3542386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프로젝트별 담당, 지연 일수, 다음 마일스톤을 한 표로 봅니다.</a:t>
            </a:r>
            <a:endParaRPr lang="en-US" sz="1200" dirty="0"/>
          </a:p>
        </p:txBody>
      </p:sp>
      <p:sp>
        <p:nvSpPr>
          <p:cNvPr id="18" name="Point 3 card"/>
          <p:cNvSpPr/>
          <p:nvPr/>
        </p:nvSpPr>
        <p:spPr>
          <a:xfrm>
            <a:off x="7247534" y="4803648"/>
            <a:ext cx="4502506" cy="1551432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9" name="Point 3 badge"/>
          <p:cNvSpPr/>
          <p:nvPr/>
        </p:nvSpPr>
        <p:spPr>
          <a:xfrm>
            <a:off x="7448702" y="5041392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0" name="Point 3 number"/>
          <p:cNvSpPr txBox="1"/>
          <p:nvPr/>
        </p:nvSpPr>
        <p:spPr>
          <a:xfrm>
            <a:off x="7448702" y="50413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21" name="Point 3 title"/>
          <p:cNvSpPr txBox="1"/>
          <p:nvPr/>
        </p:nvSpPr>
        <p:spPr>
          <a:xfrm>
            <a:off x="8024774" y="5004816"/>
            <a:ext cx="35423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Gantt · Decision Log</a:t>
            </a:r>
            <a:endParaRPr lang="en-US" sz="1500" dirty="0"/>
          </a:p>
        </p:txBody>
      </p:sp>
      <p:sp>
        <p:nvSpPr>
          <p:cNvPr id="22" name="Point 3 text"/>
          <p:cNvSpPr txBox="1"/>
          <p:nvPr/>
        </p:nvSpPr>
        <p:spPr>
          <a:xfrm>
            <a:off x="8024774" y="5498592"/>
            <a:ext cx="3542386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계획 대비 일정과 의사결정 이력을 함께 관리합니다.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9224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92608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KPI Targets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229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KPI 신호등 기준을 한 곳에서 설정합니다</a:t>
            </a:r>
            <a:endParaRPr lang="en-US" sz="1400" dirty="0"/>
          </a:p>
        </p:txBody>
      </p:sp>
      <p:sp>
        <p:nvSpPr>
          <p:cNvPr id="4" name="Section chip"/>
          <p:cNvSpPr/>
          <p:nvPr/>
        </p:nvSpPr>
        <p:spPr>
          <a:xfrm>
            <a:off x="9921240" y="384048"/>
            <a:ext cx="182880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5" name="Section chip label"/>
          <p:cNvSpPr txBox="1"/>
          <p:nvPr/>
        </p:nvSpPr>
        <p:spPr>
          <a:xfrm>
            <a:off x="9921240" y="38404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상세 탭</a:t>
            </a:r>
            <a:endParaRPr lang="en-US" sz="1100" dirty="0"/>
          </a:p>
        </p:txBody>
      </p:sp>
      <p:sp>
        <p:nvSpPr>
          <p:cNvPr id="6" name="Screen frame"/>
          <p:cNvSpPr/>
          <p:nvPr/>
        </p:nvSpPr>
        <p:spPr>
          <a:xfrm>
            <a:off x="420624" y="1335024"/>
            <a:ext cx="6452006" cy="5056632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  <a:effectLst>
            <a:outerShdw sx="100000" sy="100000" kx="0" ky="0" algn="bl" rotWithShape="0" blurRad="101600" dist="38100" dir="5400000">
              <a:srgbClr val="15224F">
                <a:alpha val="18000"/>
              </a:srgbClr>
            </a:outerShdw>
          </a:effectLst>
        </p:spPr>
      </p:sp>
      <p:pic>
        <p:nvPicPr>
          <p:cNvPr id="7" name="Dashboard screenshot" descr="대시보드 화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6378854" cy="4983480"/>
          </a:xfrm>
          <a:prstGeom prst="rect">
            <a:avLst/>
          </a:prstGeom>
        </p:spPr>
      </p:pic>
      <p:sp>
        <p:nvSpPr>
          <p:cNvPr id="8" name="Point 1 card"/>
          <p:cNvSpPr/>
          <p:nvPr/>
        </p:nvSpPr>
        <p:spPr>
          <a:xfrm>
            <a:off x="7247534" y="1371600"/>
            <a:ext cx="4502506" cy="1551432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9" name="Point 1 badge"/>
          <p:cNvSpPr/>
          <p:nvPr/>
        </p:nvSpPr>
        <p:spPr>
          <a:xfrm>
            <a:off x="7448702" y="1609344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0" name="Point 1 number"/>
          <p:cNvSpPr txBox="1"/>
          <p:nvPr/>
        </p:nvSpPr>
        <p:spPr>
          <a:xfrm>
            <a:off x="7448702" y="16093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1" name="Point 1 title"/>
          <p:cNvSpPr txBox="1"/>
          <p:nvPr/>
        </p:nvSpPr>
        <p:spPr>
          <a:xfrm>
            <a:off x="8024774" y="1572768"/>
            <a:ext cx="35423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Green · Amber 기준</a:t>
            </a:r>
            <a:endParaRPr lang="en-US" sz="1500" dirty="0"/>
          </a:p>
        </p:txBody>
      </p:sp>
      <p:sp>
        <p:nvSpPr>
          <p:cNvPr id="12" name="Point 1 text"/>
          <p:cNvSpPr txBox="1"/>
          <p:nvPr/>
        </p:nvSpPr>
        <p:spPr>
          <a:xfrm>
            <a:off x="8024774" y="2066544"/>
            <a:ext cx="3542386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KPI별로 목표와 경고 기준값을 직접 입력합니다.</a:t>
            </a:r>
            <a:endParaRPr lang="en-US" sz="1200" dirty="0"/>
          </a:p>
        </p:txBody>
      </p:sp>
      <p:sp>
        <p:nvSpPr>
          <p:cNvPr id="13" name="Point 2 card"/>
          <p:cNvSpPr/>
          <p:nvPr/>
        </p:nvSpPr>
        <p:spPr>
          <a:xfrm>
            <a:off x="7247534" y="3087624"/>
            <a:ext cx="4502506" cy="1551432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4" name="Point 2 badge"/>
          <p:cNvSpPr/>
          <p:nvPr/>
        </p:nvSpPr>
        <p:spPr>
          <a:xfrm>
            <a:off x="7448702" y="3325368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5" name="Point 2 number"/>
          <p:cNvSpPr txBox="1"/>
          <p:nvPr/>
        </p:nvSpPr>
        <p:spPr>
          <a:xfrm>
            <a:off x="7448702" y="33253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6" name="Point 2 title"/>
          <p:cNvSpPr txBox="1"/>
          <p:nvPr/>
        </p:nvSpPr>
        <p:spPr>
          <a:xfrm>
            <a:off x="8024774" y="3288792"/>
            <a:ext cx="35423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영역별 그룹</a:t>
            </a:r>
            <a:endParaRPr lang="en-US" sz="1500" dirty="0"/>
          </a:p>
        </p:txBody>
      </p:sp>
      <p:sp>
        <p:nvSpPr>
          <p:cNvPr id="17" name="Point 2 text"/>
          <p:cNvSpPr txBox="1"/>
          <p:nvPr/>
        </p:nvSpPr>
        <p:spPr>
          <a:xfrm>
            <a:off x="8024774" y="3782568"/>
            <a:ext cx="3542386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Partner OTIF &amp; Sales, Production &amp; Schedule, Quality 등으로 묶었습니다.</a:t>
            </a:r>
            <a:endParaRPr lang="en-US" sz="1200" dirty="0"/>
          </a:p>
        </p:txBody>
      </p:sp>
      <p:sp>
        <p:nvSpPr>
          <p:cNvPr id="18" name="Point 3 card"/>
          <p:cNvSpPr/>
          <p:nvPr/>
        </p:nvSpPr>
        <p:spPr>
          <a:xfrm>
            <a:off x="7247534" y="4803648"/>
            <a:ext cx="4502506" cy="1551432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9" name="Point 3 badge"/>
          <p:cNvSpPr/>
          <p:nvPr/>
        </p:nvSpPr>
        <p:spPr>
          <a:xfrm>
            <a:off x="7448702" y="5041392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0" name="Point 3 number"/>
          <p:cNvSpPr txBox="1"/>
          <p:nvPr/>
        </p:nvSpPr>
        <p:spPr>
          <a:xfrm>
            <a:off x="7448702" y="50413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21" name="Point 3 title"/>
          <p:cNvSpPr txBox="1"/>
          <p:nvPr/>
        </p:nvSpPr>
        <p:spPr>
          <a:xfrm>
            <a:off x="8024774" y="5004816"/>
            <a:ext cx="35423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엑셀로 일괄 관리</a:t>
            </a:r>
            <a:endParaRPr lang="en-US" sz="1500" dirty="0"/>
          </a:p>
        </p:txBody>
      </p:sp>
      <p:sp>
        <p:nvSpPr>
          <p:cNvPr id="22" name="Point 3 text"/>
          <p:cNvSpPr txBox="1"/>
          <p:nvPr/>
        </p:nvSpPr>
        <p:spPr>
          <a:xfrm>
            <a:off x="8024774" y="5498592"/>
            <a:ext cx="3542386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기준값을 엑셀로 내보내고 올려 한 번에 바꿉니다.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9224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92608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User Guide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229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대시보드 안에 사용 설명서를 함께 담았습니다</a:t>
            </a:r>
            <a:endParaRPr lang="en-US" sz="1400" dirty="0"/>
          </a:p>
        </p:txBody>
      </p:sp>
      <p:sp>
        <p:nvSpPr>
          <p:cNvPr id="4" name="Section chip"/>
          <p:cNvSpPr/>
          <p:nvPr/>
        </p:nvSpPr>
        <p:spPr>
          <a:xfrm>
            <a:off x="9921240" y="384048"/>
            <a:ext cx="182880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5" name="Section chip label"/>
          <p:cNvSpPr txBox="1"/>
          <p:nvPr/>
        </p:nvSpPr>
        <p:spPr>
          <a:xfrm>
            <a:off x="9921240" y="38404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상세 탭</a:t>
            </a:r>
            <a:endParaRPr lang="en-US" sz="1100" dirty="0"/>
          </a:p>
        </p:txBody>
      </p:sp>
      <p:sp>
        <p:nvSpPr>
          <p:cNvPr id="6" name="Screen frame"/>
          <p:cNvSpPr/>
          <p:nvPr/>
        </p:nvSpPr>
        <p:spPr>
          <a:xfrm>
            <a:off x="420624" y="1335024"/>
            <a:ext cx="6452006" cy="5056632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  <a:effectLst>
            <a:outerShdw sx="100000" sy="100000" kx="0" ky="0" algn="bl" rotWithShape="0" blurRad="101600" dist="38100" dir="5400000">
              <a:srgbClr val="15224F">
                <a:alpha val="18000"/>
              </a:srgbClr>
            </a:outerShdw>
          </a:effectLst>
        </p:spPr>
      </p:sp>
      <p:pic>
        <p:nvPicPr>
          <p:cNvPr id="7" name="Dashboard screenshot" descr="대시보드 화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6378854" cy="4983480"/>
          </a:xfrm>
          <a:prstGeom prst="rect">
            <a:avLst/>
          </a:prstGeom>
        </p:spPr>
      </p:pic>
      <p:sp>
        <p:nvSpPr>
          <p:cNvPr id="8" name="Point 1 card"/>
          <p:cNvSpPr/>
          <p:nvPr/>
        </p:nvSpPr>
        <p:spPr>
          <a:xfrm>
            <a:off x="7247534" y="1371600"/>
            <a:ext cx="4502506" cy="1551432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9" name="Point 1 badge"/>
          <p:cNvSpPr/>
          <p:nvPr/>
        </p:nvSpPr>
        <p:spPr>
          <a:xfrm>
            <a:off x="7448702" y="1609344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0" name="Point 1 number"/>
          <p:cNvSpPr txBox="1"/>
          <p:nvPr/>
        </p:nvSpPr>
        <p:spPr>
          <a:xfrm>
            <a:off x="7448702" y="16093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1" name="Point 1 title"/>
          <p:cNvSpPr txBox="1"/>
          <p:nvPr/>
        </p:nvSpPr>
        <p:spPr>
          <a:xfrm>
            <a:off x="8024774" y="1572768"/>
            <a:ext cx="35423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한국어 · 영어</a:t>
            </a:r>
            <a:endParaRPr lang="en-US" sz="1500" dirty="0"/>
          </a:p>
        </p:txBody>
      </p:sp>
      <p:sp>
        <p:nvSpPr>
          <p:cNvPr id="12" name="Point 1 text"/>
          <p:cNvSpPr txBox="1"/>
          <p:nvPr/>
        </p:nvSpPr>
        <p:spPr>
          <a:xfrm>
            <a:off x="8024774" y="2066544"/>
            <a:ext cx="3542386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설명서를 한국어와 영어로 전환해 봅니다.</a:t>
            </a:r>
            <a:endParaRPr lang="en-US" sz="1200" dirty="0"/>
          </a:p>
        </p:txBody>
      </p:sp>
      <p:sp>
        <p:nvSpPr>
          <p:cNvPr id="13" name="Point 2 card"/>
          <p:cNvSpPr/>
          <p:nvPr/>
        </p:nvSpPr>
        <p:spPr>
          <a:xfrm>
            <a:off x="7247534" y="3087624"/>
            <a:ext cx="4502506" cy="1551432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4" name="Point 2 badge"/>
          <p:cNvSpPr/>
          <p:nvPr/>
        </p:nvSpPr>
        <p:spPr>
          <a:xfrm>
            <a:off x="7448702" y="3325368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5" name="Point 2 number"/>
          <p:cNvSpPr txBox="1"/>
          <p:nvPr/>
        </p:nvSpPr>
        <p:spPr>
          <a:xfrm>
            <a:off x="7448702" y="33253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6" name="Point 2 title"/>
          <p:cNvSpPr txBox="1"/>
          <p:nvPr/>
        </p:nvSpPr>
        <p:spPr>
          <a:xfrm>
            <a:off x="8024774" y="3288792"/>
            <a:ext cx="35423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탭별 안내</a:t>
            </a:r>
            <a:endParaRPr lang="en-US" sz="1500" dirty="0"/>
          </a:p>
        </p:txBody>
      </p:sp>
      <p:sp>
        <p:nvSpPr>
          <p:cNvPr id="17" name="Point 2 text"/>
          <p:cNvSpPr txBox="1"/>
          <p:nvPr/>
        </p:nvSpPr>
        <p:spPr>
          <a:xfrm>
            <a:off x="8024774" y="3782568"/>
            <a:ext cx="3542386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각 탭의 기능과 KPI 산식, 데이터 출처를 목차로 찾아봅니다.</a:t>
            </a:r>
            <a:endParaRPr lang="en-US" sz="1200" dirty="0"/>
          </a:p>
        </p:txBody>
      </p:sp>
      <p:sp>
        <p:nvSpPr>
          <p:cNvPr id="18" name="Point 3 card"/>
          <p:cNvSpPr/>
          <p:nvPr/>
        </p:nvSpPr>
        <p:spPr>
          <a:xfrm>
            <a:off x="7247534" y="4803648"/>
            <a:ext cx="4502506" cy="1551432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9" name="Point 3 badge"/>
          <p:cNvSpPr/>
          <p:nvPr/>
        </p:nvSpPr>
        <p:spPr>
          <a:xfrm>
            <a:off x="7448702" y="5041392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0" name="Point 3 number"/>
          <p:cNvSpPr txBox="1"/>
          <p:nvPr/>
        </p:nvSpPr>
        <p:spPr>
          <a:xfrm>
            <a:off x="7448702" y="50413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21" name="Point 3 title"/>
          <p:cNvSpPr txBox="1"/>
          <p:nvPr/>
        </p:nvSpPr>
        <p:spPr>
          <a:xfrm>
            <a:off x="8024774" y="5004816"/>
            <a:ext cx="35423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데이터 흐름</a:t>
            </a:r>
            <a:endParaRPr lang="en-US" sz="1500" dirty="0"/>
          </a:p>
        </p:txBody>
      </p:sp>
      <p:sp>
        <p:nvSpPr>
          <p:cNvPr id="22" name="Point 3 text"/>
          <p:cNvSpPr txBox="1"/>
          <p:nvPr/>
        </p:nvSpPr>
        <p:spPr>
          <a:xfrm>
            <a:off x="8024774" y="5498592"/>
            <a:ext cx="3542386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업로드부터 계산, 화면 표시까지의 흐름을 설명합니다.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9224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SM Executive">
  <a:themeElements>
    <a:clrScheme name="GSM Executive">
      <a:dk1>
        <a:srgbClr val="1F2937"/>
      </a:dk1>
      <a:lt1>
        <a:srgbClr val="FFFFFF"/>
      </a:lt1>
      <a:dk2>
        <a:srgbClr val="15224F"/>
      </a:dk2>
      <a:lt2>
        <a:srgbClr val="F3F5F9"/>
      </a:lt2>
      <a:accent1>
        <a:srgbClr val="3B5BA9"/>
      </a:accent1>
      <a:accent2>
        <a:srgbClr val="EA002C"/>
      </a:accent2>
      <a:accent3>
        <a:srgbClr val="8A97B8"/>
      </a:accent3>
      <a:accent4>
        <a:srgbClr val="2E7D5B"/>
      </a:accent4>
      <a:accent5>
        <a:srgbClr val="C98A1E"/>
      </a:accent5>
      <a:accent6>
        <a:srgbClr val="6B7280"/>
      </a:accent6>
      <a:hlink>
        <a:srgbClr val="3B5BA9"/>
      </a:hlink>
      <a:folHlink>
        <a:srgbClr val="6B7280"/>
      </a:folHlink>
    </a:clrScheme>
    <a:fontScheme name="GSM Executiv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GSM Dashboard Screens</dc:title>
  <dc:subject>PptxGenJS Presentation</dc:subject>
  <dc:creator>Global CPM팀 조수호</dc:creator>
  <cp:lastModifiedBy>Global CPM팀 조수호</cp:lastModifiedBy>
  <cp:revision>1</cp:revision>
  <dcterms:created xsi:type="dcterms:W3CDTF">2026-10-23T01:19:30Z</dcterms:created>
  <dcterms:modified xsi:type="dcterms:W3CDTF">2026-10-23T01:19:30Z</dcterms:modified>
</cp:coreProperties>
</file>