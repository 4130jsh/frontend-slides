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SK BIOPHARMACEUTICALS  ·  GLOBAL SUPPLY &amp;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Cenobamate 글로벌 공급망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관리 </a:t>
            </a:r>
            <a:r>
              <a:rPr sz="4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대시보드</a:t>
            </a: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흩어진 공급망 데이터를 하나의 화면으로  ·  단일 진실 공급원(Single Source of Truth)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00600"/>
            <a:ext cx="1828800" cy="73152"/>
          </a:xfrm>
          <a:prstGeom prst="rect">
            <a:avLst/>
          </a:prstGeom>
          <a:solidFill>
            <a:srgbClr val="5F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발표자 · Global CPM팀 조수호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2026. 06 · GSM Dashboard 구축 보고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02920"/>
            <a:ext cx="128016" cy="384048"/>
          </a:xfrm>
          <a:prstGeom prst="roundRect">
            <a:avLst/>
          </a:prstGeom>
          <a:solidFill>
            <a:srgbClr val="5F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8463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01 · PAIN POINT — 공급망 복잡성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Cenobamate 공급망은 </a:t>
            </a:r>
            <a:r>
              <a:rPr sz="27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매우 복잡합니다</a:t>
            </a:r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7772400" cy="33162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691640"/>
            <a:ext cx="3154680" cy="1554480"/>
          </a:xfrm>
          <a:prstGeom prst="roundRect">
            <a:avLst/>
          </a:prstGeom>
          <a:solidFill>
            <a:srgbClr val="3A1530"/>
          </a:solidFill>
          <a:ln w="22225">
            <a:solidFill>
              <a:srgbClr val="FF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5088" y="18288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8095"/>
                </a:solidFill>
                <a:latin typeface="Malgun Gothic"/>
                <a:ea typeface="Malgun Gothic"/>
                <a:cs typeface="Malgun Gothic"/>
              </a:rPr>
              <a:t>⚠ 단일 의존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5088" y="219456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전 시장 API가 한국 </a:t>
            </a:r>
            <a:r>
              <a:rPr sz="1300" b="1">
                <a:solidFill>
                  <a:srgbClr val="FF8095"/>
                </a:solidFill>
                <a:latin typeface="Malgun Gothic"/>
                <a:ea typeface="Malgun Gothic"/>
                <a:cs typeface="Malgun Gothic"/>
              </a:rPr>
              <a:t>SK biotek(SKBT)</a:t>
            </a:r>
            <a:r>
              <a:rPr sz="13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 한 곳에서 합성됩니다. </a:t>
            </a:r>
            <a:r>
              <a:rPr sz="1300" b="1">
                <a:solidFill>
                  <a:srgbClr val="FF8095"/>
                </a:solidFill>
                <a:latin typeface="Malgun Gothic"/>
                <a:ea typeface="Malgun Gothic"/>
                <a:cs typeface="Malgun Gothic"/>
              </a:rPr>
              <a:t>Single API Supplier.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42900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429000"/>
            <a:ext cx="2240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CMO · 제조 파트너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4223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4142232"/>
            <a:ext cx="2240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제조 거점 국가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855464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855464"/>
            <a:ext cx="2240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공급 시장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568696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5568696"/>
            <a:ext cx="2240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단계 BOM 흐름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중국(RSM) → 한국(API, SKBT 단독) → 캐나다·미국(DP·완제품) → 10개 시장 · 원료부터 완제품까지 5단계, 시장마다 공급 경로가 다릅니다.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5F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02 · PAIN POINT — 공급망의 규모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복잡한 공급망을 통해, </a:t>
            </a:r>
            <a:r>
              <a:rPr sz="27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막대한 규모</a:t>
            </a: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 흐릅니다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83280" cy="3108960"/>
          </a:xfrm>
          <a:prstGeom prst="roundRect">
            <a:avLst/>
          </a:prstGeom>
          <a:solidFill>
            <a:srgbClr val="1E2F66"/>
          </a:solidFill>
          <a:ln w="12700">
            <a:solidFill>
              <a:srgbClr val="2A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79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CMO 조달 · 제조 위탁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$18</a:t>
            </a: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2025 CMO 발주 총액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RSM → API → DP → 포장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347472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94560"/>
            <a:ext cx="3383280" cy="3108960"/>
          </a:xfrm>
          <a:prstGeom prst="roundRect">
            <a:avLst/>
          </a:prstGeom>
          <a:solidFill>
            <a:srgbClr val="2A3D7A"/>
          </a:solidFill>
          <a:ln w="25400">
            <a:solidFill>
              <a:srgbClr val="5F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79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복잡한 다단계 공급망 · 5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546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개 자재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5196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RSM 3 · API 4 · DP 27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Semi-FP 12 · FP 14  ·  연 약 300 배치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347472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194560"/>
            <a:ext cx="3383280" cy="3108960"/>
          </a:xfrm>
          <a:prstGeom prst="roundRect">
            <a:avLst/>
          </a:prstGeom>
          <a:solidFill>
            <a:srgbClr val="1E2F66"/>
          </a:solidFill>
          <a:ln w="12700">
            <a:solidFill>
              <a:srgbClr val="2A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468879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파트너 공급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1546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$491</a:t>
            </a: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25196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2025 파트너 공급 매출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글로벌 판매 파트너향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왜 복잡한가 · </a:t>
            </a:r>
            <a:r>
              <a:rPr sz="14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약 $18M 글로벌 CMO 조달부터 약 $491M 파트너 공급까지, BOM 상 60개 자재와 15곳 이상의 거점·파트너가 얽혀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03 · PAIN POINT — 데이터 파편화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흩어진 데이터, 통합 View 부재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SAP ERP (ZSDBPR0330·MB52·MB51)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5740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현업 Excel · 수기 보고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57400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CMO 생산·품질·일정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SK LSI 3PL 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10896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수요예측 · 판매계획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10896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108960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제각각의 파일·기준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4526279"/>
            <a:ext cx="5943600" cy="914400"/>
          </a:xfrm>
          <a:prstGeom prst="round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526279"/>
            <a:ext cx="5943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한데 모아 보는 통합 화면이 없었습니다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목표는 분명했습니다 — 흩어진 데이터를 한 화면에서 보자.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04 · SOLUTION — 데이터에서 정보로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데이터는 3개 계층을 거쳐 정보가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39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23159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LAYER 1 · 원천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34639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66159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SAP · Excel · CMO/3PL · 수요·판매계획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2" y="324612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48839"/>
            <a:ext cx="3383280" cy="2743200"/>
          </a:xfrm>
          <a:prstGeom prst="roundRect">
            <a:avLst/>
          </a:prstGeom>
          <a:solidFill>
            <a:srgbClr val="E9F6F3"/>
          </a:solidFill>
          <a:ln w="28575">
            <a:solidFill>
              <a:srgbClr val="2C9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423159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LAYER 2 · 처리 엔진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834639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Rule-based Logic +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566159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규칙·임계값 채점 · 계보추적 · BOM 마스터·전환계수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324612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148839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1" y="2423159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LAYER 3 · 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1" y="2834639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1" y="3566159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17 KPI·RAG · 공급 가시성 · 재고·OTIF·일정 진단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0972800" cy="777240"/>
          </a:xfrm>
          <a:prstGeom prst="roundRect">
            <a:avLst/>
          </a:prstGeom>
          <a:solidFill>
            <a:srgbClr val="E9F6F3"/>
          </a:solidFill>
          <a:ln w="12700">
            <a:solidFill>
              <a:srgbClr val="2C9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핵심 · </a:t>
            </a:r>
            <a:r>
              <a:rPr sz="14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같은 데이터라도 BOM·규칙 계층을 어떻게 정의하느냐에 따라 정보의 정확도가 결정됩니다.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5F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05 · SOLUTION — 데이터의 정보화 (예시)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복수의 데이터를 </a:t>
            </a:r>
            <a:r>
              <a:rPr sz="27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보고 싶은 정보</a:t>
            </a: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 전환합니다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246120" cy="3200400"/>
          </a:xfrm>
          <a:prstGeom prst="roundRect">
            <a:avLst/>
          </a:prstGeom>
          <a:solidFill>
            <a:srgbClr val="1E2F66"/>
          </a:solidFill>
          <a:ln w="12700">
            <a:solidFill>
              <a:srgbClr val="2A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048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복수의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26080"/>
            <a:ext cx="2788920" cy="566928"/>
          </a:xfrm>
          <a:prstGeom prst="round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926080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창고 재고 수량 · MB52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39312"/>
            <a:ext cx="2788920" cy="566928"/>
          </a:xfrm>
          <a:prstGeom prst="round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639312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일평균 소요 ADU · 수요·출고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52544"/>
            <a:ext cx="2788920" cy="566928"/>
          </a:xfrm>
          <a:prstGeom prst="round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4352544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제품·단계 구분 · 완제품 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7" y="3520440"/>
            <a:ext cx="411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48840"/>
            <a:ext cx="3246120" cy="3200400"/>
          </a:xfrm>
          <a:prstGeom prst="roundRect">
            <a:avLst/>
          </a:prstGeom>
          <a:solidFill>
            <a:srgbClr val="2A3D7A"/>
          </a:solidFill>
          <a:ln w="25400">
            <a:solidFill>
              <a:srgbClr val="5F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4048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전환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260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마스터데이터(BOM)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제품·단계 매핑 · 단위 전환계수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931920"/>
            <a:ext cx="2788920" cy="1005840"/>
          </a:xfrm>
          <a:prstGeom prst="roundRect">
            <a:avLst/>
          </a:prstGeom>
          <a:solidFill>
            <a:srgbClr val="10304A"/>
          </a:solidFill>
          <a:ln w="12700">
            <a:solidFill>
              <a:srgbClr val="5F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27889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재고수량 ÷ ADU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= 12,460 ÷ 327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3520440"/>
            <a:ext cx="411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148840"/>
            <a:ext cx="3246120" cy="3200400"/>
          </a:xfrm>
          <a:prstGeom prst="roundRect">
            <a:avLst/>
          </a:prstGeom>
          <a:solidFill>
            <a:srgbClr val="1E2F66"/>
          </a:solidFill>
          <a:ln w="19050">
            <a:solidFill>
              <a:srgbClr val="5F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5146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완제품 재고 일수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01752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38</a:t>
            </a:r>
            <a:r>
              <a:rPr sz="22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 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59" y="4206240"/>
            <a:ext cx="1965960" cy="502920"/>
          </a:xfrm>
          <a:prstGeom prst="roundRect">
            <a:avLst/>
          </a:prstGeom>
          <a:solidFill>
            <a:srgbClr val="3A2E0A"/>
          </a:solidFill>
          <a:ln w="12700">
            <a:solidFill>
              <a:srgbClr val="E6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59" y="420624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C94D"/>
                </a:solidFill>
                <a:latin typeface="Malgun Gothic"/>
                <a:ea typeface="Malgun Gothic"/>
                <a:cs typeface="Malgun Gothic"/>
              </a:rPr>
              <a:t>AMBER · 목표 45–75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48463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→ 결품 위험 · 보충 발주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같은 방식으로 17개 KPI가 자동 산출되고, RAG 신호등으로 채점됩니다.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06 · 구현과정 — 개발 &amp;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엑셀 업로드로 바로 보고, AI 반복으로 완성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39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4825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엑셀 파일 업로드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SAP·현업 시트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9936" y="2148839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39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4825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자동 인식 · 계산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8개 디텍터·KPI/RAG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2148839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39"/>
            <a:ext cx="3383280" cy="868680"/>
          </a:xfrm>
          <a:prstGeom prst="round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04825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출력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17 KPI·신호등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39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개발 여정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8999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" y="3630168"/>
            <a:ext cx="457200" cy="457200"/>
          </a:xfrm>
          <a:prstGeom prst="ellipse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538727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Pain Point 확인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657599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428999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81728" y="3630168"/>
            <a:ext cx="457200" cy="457200"/>
          </a:xfrm>
          <a:prstGeom prst="ellipse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538727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AI로 MVP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첫 솔루션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6" y="3657599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28999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22208" y="3630168"/>
            <a:ext cx="457200" cy="457200"/>
          </a:xfrm>
          <a:prstGeom prst="ellipse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538727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Trial &amp; Error 개선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구성·신뢰도 향상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59"/>
            <a:ext cx="10972800" cy="1874519"/>
          </a:xfrm>
          <a:prstGeom prst="roundRect">
            <a:avLst/>
          </a:prstGeom>
          <a:solidFill>
            <a:srgbClr val="ECF7F5"/>
          </a:solidFill>
          <a:ln w="15875">
            <a:solidFill>
              <a:srgbClr val="2C9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45151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TIP 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663440"/>
            <a:ext cx="685800" cy="310896"/>
          </a:xfrm>
          <a:prstGeom prst="round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663440"/>
            <a:ext cx="685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663440"/>
            <a:ext cx="9509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보고 싶은 </a:t>
            </a:r>
            <a:r>
              <a:rPr sz="15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화면부터</a:t>
            </a: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 만들지 말고, 가진 </a:t>
            </a:r>
            <a:r>
              <a:rPr sz="15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데이터부터</a:t>
            </a:r>
            <a:r>
              <a:rPr sz="15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 시작하세요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120640"/>
            <a:ext cx="25420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5120640"/>
            <a:ext cx="23225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① 데이터 구조·역할 학습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47872" y="5120640"/>
            <a:ext cx="25420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120640"/>
            <a:ext cx="23225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② 잘 읽히는지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1344" y="5120640"/>
            <a:ext cx="25420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5120640"/>
            <a:ext cx="23225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③ 정보 구현 / AI에 질문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14816" y="5120640"/>
            <a:ext cx="25420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9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5120640"/>
            <a:ext cx="23225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✓ 대시보드 완성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806440"/>
            <a:ext cx="10424160" cy="438912"/>
          </a:xfrm>
          <a:prstGeom prst="roundRect">
            <a:avLst/>
          </a:prstGeom>
          <a:solidFill>
            <a:srgbClr val="DD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5806440"/>
            <a:ext cx="10149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＋ 한 걸음 더 · </a:t>
            </a:r>
            <a:r>
              <a:rPr sz="12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데이터와 데이터를 잇는 마스터데이터(조직·업무의 근간이 되는 기준 정보)를 만들면 더 좋습니다. 이 대시보드에서는 BOM이 그 역할.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5F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07 · 대시보드 시연 —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실데이터 대시보드 </a:t>
            </a:r>
            <a:r>
              <a:rPr sz="27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라이브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031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Data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03120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엑셀 드래그&amp;드롭 → 8개 디텍터 자동 인식·적재 → 전 화면 갱신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9776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79776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Forecast &amp;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79776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시장별 수요예측 vs 판매계획 · 판매계획 정확도 92.3% (Amber)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56432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456432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판매주문 · SK LSI 판매 · OTIF(정시·정량) 매트릭스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33087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33087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133087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완제품 재고 일수 38일 (목표 미달) · 유효기한 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9744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0974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80974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PR→PO→GR 정합 · CMO 일정 달성율 91.5% (Amber)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48640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CEO Cockpit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486400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4대 KPI 신호등 요약 · 클릭 드릴다운으로 상세 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발표 순서대로 넘기면 임베드된 대시보드 탭이 함께 전환됩니다. 업로드 한 번이면 전 부문이 같은 기준으로 갱신됩니다.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08 · 아키텍처 &amp; 향후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단일 HTML에서 통합 플랫폼으로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383280" cy="109728"/>
          </a:xfrm>
          <a:prstGeom prst="rect">
            <a:avLst/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최초 ·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단일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빌드 없이 파일 하나로 실행·공유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2" y="288036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9659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965960"/>
            <a:ext cx="3383280" cy="109728"/>
          </a:xfrm>
          <a:prstGeom prst="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2402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현재 ·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243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local-app +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0040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폴더 감시 무인 적재 · 데이터 영속화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88036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C9A8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9659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965960"/>
            <a:ext cx="3383280" cy="109728"/>
          </a:xfrm>
          <a:prstGeom prst="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2402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추후 · 통합 플랫폼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6243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Frontend · Backend ·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20040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FE 화면·시각화 / BE 정합·KPI·인증·API / 통합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10972800" cy="914400"/>
          </a:xfrm>
          <a:prstGeom prst="round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데이터 입출력 · </a:t>
            </a:r>
            <a:r>
              <a:rPr sz="140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수기 Excel → 입력 자동화 및 본부 내 여러 모델로부터 데이터 자동 전송·수신으로 전환 (Excel은 보조).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09 · 본부 내 계획 — 통합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여러 모델의 정보를 열람하고 통합·전환하는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본부 내 개발 중인 여러 모델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79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0487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모델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개발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240279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240487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모델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8892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개발 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240279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240487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모델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78892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개발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6" y="2240279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240487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모델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278892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개발 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8" y="2240279"/>
            <a:ext cx="2057400" cy="91440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6B7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240487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＋ 더 많은 모델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78892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예정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39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▼  각 모델이 정보를 출력 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10972800" cy="1691640"/>
          </a:xfrm>
          <a:prstGeom prst="round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86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하나의 통합 View · 본부 GSM 대시보드</a:t>
            </a:r>
            <a:r>
              <a:rPr sz="13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   각 정보를 열람하고, 여러 정보를 통합해 새로운 정보로 전환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434840"/>
            <a:ext cx="1828800" cy="640080"/>
          </a:xfrm>
          <a:prstGeom prst="round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모델 A 정보 · 열람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52928" y="4434840"/>
            <a:ext cx="1828800" cy="640080"/>
          </a:xfrm>
          <a:prstGeom prst="round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4368" y="443484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모델 B 정보 · 열람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91456" y="4434840"/>
            <a:ext cx="1828800" cy="640080"/>
          </a:xfrm>
          <a:prstGeom prst="round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443484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모델 C 정보 · 열람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9984" y="4434840"/>
            <a:ext cx="1828800" cy="640080"/>
          </a:xfrm>
          <a:prstGeom prst="roundRect">
            <a:avLst/>
          </a:prstGeom>
          <a:solidFill>
            <a:srgbClr val="2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443484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AF0FB"/>
                </a:solidFill>
                <a:latin typeface="Malgun Gothic"/>
                <a:ea typeface="Malgun Gothic"/>
                <a:cs typeface="Malgun Gothic"/>
              </a:rPr>
              <a:t>모델 D 정보 · 열람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5720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4389120"/>
            <a:ext cx="2468880" cy="731520"/>
          </a:xfrm>
          <a:prstGeom prst="roundRect">
            <a:avLst/>
          </a:prstGeom>
          <a:solidFill>
            <a:srgbClr val="2A3D7A"/>
          </a:solidFill>
          <a:ln w="22225">
            <a:solidFill>
              <a:srgbClr val="5F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438912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새로운 통합 정보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여러 정보를 결합·전환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마무리 ·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흩어진 데이터를 </a:t>
            </a:r>
            <a:r>
              <a:rPr sz="3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하나의 판단 화면</a:t>
            </a: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914400"/>
          </a:xfrm>
          <a:prstGeom prst="roundRect">
            <a:avLst/>
          </a:prstGeom>
          <a:solidFill>
            <a:srgbClr val="1E2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70048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복잡도를 가시화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10시장·7CMO·5단계 BOM의 공급망을 한 화면에서 조망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79"/>
            <a:ext cx="10515600" cy="914400"/>
          </a:xfrm>
          <a:prstGeom prst="roundRect">
            <a:avLst/>
          </a:prstGeom>
          <a:solidFill>
            <a:srgbClr val="1E2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11879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721607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신호등으로 판단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17개 KPI를 RAG로 자동 채점, 이상을 즉시 식별·선제 대응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10515600" cy="914400"/>
          </a:xfrm>
          <a:prstGeom prst="roundRect">
            <a:avLst/>
          </a:prstGeom>
          <a:solidFill>
            <a:srgbClr val="1E2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773168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본부 통합 View로 발전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여러 모델의 데이터를 하나의 화면으로 모아 지속 발전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5FD6CE"/>
                </a:solidFill>
                <a:latin typeface="Malgun Gothic"/>
                <a:ea typeface="Malgun Gothic"/>
                <a:cs typeface="Malgun Gothic"/>
              </a:rPr>
              <a:t>Q &amp;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05332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9B6D6"/>
                </a:solidFill>
                <a:latin typeface="Malgun Gothic"/>
                <a:ea typeface="Malgun Gothic"/>
                <a:cs typeface="Malgun Gothic"/>
              </a:rPr>
              <a:t>SK바이오팜 · Global Supply &amp; Manufacturing · 2026.06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128016" cy="384048"/>
          </a:xfrm>
          <a:prstGeom prst="roundRect">
            <a:avLst/>
          </a:prstGeom>
          <a:solidFill>
            <a:srgbClr val="2C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부록 — 공급망 상세 (BOM Tree v1)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5224F"/>
                </a:solidFill>
                <a:latin typeface="Malgun Gothic"/>
                <a:ea typeface="Malgun Gothic"/>
                <a:cs typeface="Malgun Gothic"/>
              </a:rPr>
              <a:t>시장·파트너 매핑 / 제조 거점 (CMO)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시장 · 파트너 매핑 (10개 시장)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40279"/>
          <a:ext cx="5852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640080"/>
                <a:gridCol w="1005840"/>
                <a:gridCol w="192024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출처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공급 제품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SK Life Science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합성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Bottle·Blister Card 전 품목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China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Ignis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US→ROW1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 50mg Bottle·12.5mg Pack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Hong Kong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Ignis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US→ROW1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HK Tablet 6종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Canada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Knight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EU→CA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 Tablet 6종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Israel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Dexcel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US→ROW1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 Tablet 6종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Angelini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 합성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 RSM 합성 API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Japan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Ono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합성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API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LATAM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Eurofarma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합성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API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MENA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Hikma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합성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API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Korea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Dong-A ST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합성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API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87451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7B72"/>
                </a:solidFill>
                <a:latin typeface="Malgun Gothic"/>
                <a:ea typeface="Malgun Gothic"/>
                <a:cs typeface="Malgun Gothic"/>
              </a:rPr>
              <a:t>제조 거점 CMO (7개 · 4개국)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2240279"/>
          <a:ext cx="5120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1463040"/>
                <a:gridCol w="1920240"/>
              </a:tblGrid>
              <a:tr h="3886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CMO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54864" marT="18288" marB="18288">
                    <a:solidFill>
                      <a:srgbClr val="15224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Lianhe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中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RSM 제조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YKP1941 200kg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Wisdom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中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RSM 제조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YKP1941 180kg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SK biotek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韓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단독 합성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US·EU 합성/코드변환 482kg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Patheon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DP·SP·FP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시장 Tablet·병 포장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Avara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 (US 전용)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 전 함량 Tablet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PCI CA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Blister Strip·Card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US·CN Blister</a:t>
                      </a:r>
                    </a:p>
                  </a:txBody>
                  <a:tcPr marL="54864" marT="9144" marB="9144">
                    <a:solidFill>
                      <a:srgbClr val="EAF0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PCI US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Bottle 포장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52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Avara Tablet 전용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553212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F8095"/>
                </a:solidFill>
                <a:latin typeface="Malgun Gothic"/>
                <a:ea typeface="Malgun Gothic"/>
                <a:cs typeface="Malgun Gothic"/>
              </a:rPr>
              <a:t>단일 의존 · </a:t>
            </a:r>
            <a:r>
              <a:rPr sz="1200" b="0">
                <a:solidFill>
                  <a:srgbClr val="46537A"/>
                </a:solidFill>
                <a:latin typeface="Malgun Gothic"/>
                <a:ea typeface="Malgun Gothic"/>
                <a:cs typeface="Malgun Gothic"/>
              </a:rPr>
              <a:t>전 시장 API는 SK biotek(SKBT) 단독 합성. RSM·DP는 이원화.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B779A"/>
                </a:solidFill>
                <a:latin typeface="Malgun Gothic"/>
                <a:ea typeface="Malgun Gothic"/>
                <a:cs typeface="Malgun Gothic"/>
              </a:rPr>
              <a:t>공급 레벨 · FP 2 / DP 3 / API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